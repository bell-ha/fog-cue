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2c708bbc-40d0-10a2-e95b-e8ef58042cdd}">
          <p14:sldIdLst>
            <p14:sldId id="256"/>
            <p14:sldId id="257"/>
          </p14:sldIdLst>
        </p14:section>
        <p14:section name="요약" id="{27057126-bf7e-27ea-b339-72d048443cfa}">
          <p14:sldIdLst>
            <p14:sldId id="258"/>
          </p14:sldIdLst>
        </p14:section>
        <p14:section name="만든 것" id="{f3eef52a-1f84-1cc9-ea2b-c66694684679}">
          <p14:sldIdLst>
            <p14:sldId id="259"/>
            <p14:sldId id="260"/>
            <p14:sldId id="261"/>
          </p14:sldIdLst>
        </p14:section>
        <p14:section name="기록 방법" id="{31f4b84b-3c02-9fe5-a5ba-e2965cfe8cbf}">
          <p14:sldIdLst>
            <p14:sldId id="262"/>
          </p14:sldIdLst>
        </p14:section>
        <p14:section name="비교" id="{4b293a7b-f8e7-d40d-c2c1-2ecd2d0d7ada}">
          <p14:sldIdLst>
            <p14:sldId id="263"/>
          </p14:sldIdLst>
        </p14:section>
        <p14:section name="판정" id="{75cdc740-5e73-d72d-2de1-a3ee5c9c046b}">
          <p14:sldIdLst>
            <p14:sldId id="264"/>
          </p14:sldIdLst>
        </p14:section>
        <p14:section name="바뀐 점" id="{3cf0b22d-70dd-b247-abca-4370b4234eef}">
          <p14:sldIdLst>
            <p14:sldId id="265"/>
          </p14:sldIdLst>
        </p14:section>
        <p14:section name="한계" id="{aacbe15c-3be7-9495-6cdc-a5b9342e969d}">
          <p14:sldIdLst>
            <p14:sldId id="266"/>
          </p14:sldIdLst>
        </p14:section>
        <p14:section name="구현할 것" id="{ea02d436-ebe4-87ed-1b0a-27254f313f5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0936" y="169164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1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" y="1106424"/>
            <a:ext cx="493776" cy="320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5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" y="1106424"/>
            <a:ext cx="493776" cy="32004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5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950" dirty="0"/>
          </a:p>
        </p:txBody>
      </p:sp>
      <p:sp>
        <p:nvSpPr>
          <p:cNvPr id="5" name="Shape 1"/>
          <p:cNvSpPr/>
          <p:nvPr/>
        </p:nvSpPr>
        <p:spPr>
          <a:xfrm>
            <a:off x="630936" y="1691640"/>
            <a:ext cx="2480767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331159" y="1691640"/>
            <a:ext cx="2480767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6032297" y="1691640"/>
            <a:ext cx="2480767" cy="17373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4"/>
          <p:cNvSpPr/>
          <p:nvPr>
            <p:ph idx="106" hasCustomPrompt="1"/>
          </p:nvPr>
        </p:nvSpPr>
        <p:spPr>
          <a:xfrm>
            <a:off x="630936" y="1691640"/>
            <a:ext cx="2480767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사진 또는 영상</a:t>
            </a:r>
            <a:endParaRPr lang="en-US" dirty="0"/>
          </a:p>
        </p:txBody>
      </p:sp>
      <p:sp>
        <p:nvSpPr>
          <p:cNvPr id="9" name="Text 4"/>
          <p:cNvSpPr/>
          <p:nvPr>
            <p:ph idx="107" type="body" hasCustomPrompt="1"/>
          </p:nvPr>
        </p:nvSpPr>
        <p:spPr>
          <a:xfrm>
            <a:off x="630936" y="3566160"/>
            <a:ext cx="2480767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5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결과</a:t>
            </a:r>
            <a:endParaRPr lang="en-US" sz="950" dirty="0"/>
          </a:p>
        </p:txBody>
      </p:sp>
      <p:sp>
        <p:nvSpPr>
          <p:cNvPr id="10" name="Text 4"/>
          <p:cNvSpPr/>
          <p:nvPr>
            <p:ph idx="108" hasCustomPrompt="1"/>
          </p:nvPr>
        </p:nvSpPr>
        <p:spPr>
          <a:xfrm>
            <a:off x="3331159" y="1691640"/>
            <a:ext cx="2480767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사진 또는 영상</a:t>
            </a:r>
            <a:endParaRPr lang="en-US" dirty="0"/>
          </a:p>
        </p:txBody>
      </p:sp>
      <p:sp>
        <p:nvSpPr>
          <p:cNvPr id="11" name="Text 4"/>
          <p:cNvSpPr/>
          <p:nvPr>
            <p:ph idx="109" type="body" hasCustomPrompt="1"/>
          </p:nvPr>
        </p:nvSpPr>
        <p:spPr>
          <a:xfrm>
            <a:off x="3331159" y="3566160"/>
            <a:ext cx="2480767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5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결과</a:t>
            </a:r>
            <a:endParaRPr lang="en-US" sz="950" dirty="0"/>
          </a:p>
        </p:txBody>
      </p:sp>
      <p:sp>
        <p:nvSpPr>
          <p:cNvPr id="12" name="Text 4"/>
          <p:cNvSpPr/>
          <p:nvPr>
            <p:ph idx="110" hasCustomPrompt="1"/>
          </p:nvPr>
        </p:nvSpPr>
        <p:spPr>
          <a:xfrm>
            <a:off x="6032297" y="1691640"/>
            <a:ext cx="2480767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사진 또는 영상</a:t>
            </a:r>
            <a:endParaRPr lang="en-US" dirty="0"/>
          </a:p>
        </p:txBody>
      </p:sp>
      <p:sp>
        <p:nvSpPr>
          <p:cNvPr id="13" name="Text 4"/>
          <p:cNvSpPr/>
          <p:nvPr>
            <p:ph idx="111" type="body" hasCustomPrompt="1"/>
          </p:nvPr>
        </p:nvSpPr>
        <p:spPr>
          <a:xfrm>
            <a:off x="6032297" y="3566160"/>
            <a:ext cx="2480767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5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결과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video" Target="../media/media-7-1.mp4"/><Relationship Id="rId2" Type="http://schemas.microsoft.com/office/2007/relationships/media" Target="../media/media-7-1.mp4"/><Relationship Id="rId3" Type="http://schemas.openxmlformats.org/officeDocument/2006/relationships/image" Target="../media/image-7-3.png"/><Relationship Id="rId4" Type="http://schemas.openxmlformats.org/officeDocument/2006/relationships/video" Target="../media/media-7-4.mp4"/><Relationship Id="rId5" Type="http://schemas.microsoft.com/office/2007/relationships/media" Target="../media/media-7-4.mp4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30936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100" b="1" dirty="0">
                <a:solidFill>
                  <a:schemeClr val="tx1"/>
                </a:solidFill>
              </a:rPr>
              <a:t>보행동결 자극 시스템</a:t>
            </a:r>
            <a:endParaRPr lang="en-US" sz="3100" dirty="0"/>
          </a:p>
        </p:txBody>
      </p:sp>
      <p:sp>
        <p:nvSpPr>
          <p:cNvPr id="3" name="Text 1"/>
          <p:cNvSpPr txBox="1"/>
          <p:nvPr/>
        </p:nvSpPr>
        <p:spPr>
          <a:xfrm>
            <a:off x="630936" y="26334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50" dirty="0">
                <a:solidFill>
                  <a:schemeClr val="tx2"/>
                </a:solidFill>
              </a:rPr>
              <a:t>중간발표</a:t>
            </a:r>
            <a:endParaRPr lang="ko-KR" sz="115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3035808"/>
            <a:ext cx="5486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00" b="1" dirty="0">
                <a:solidFill>
                  <a:schemeClr val="accent1"/>
                </a:solidFill>
              </a:rPr>
              <a:t>IMU 기반 보행 동결 검출 및 청각 자극 시스템</a:t>
            </a:r>
            <a:endParaRPr lang="ko-KR" sz="800" dirty="0"/>
          </a:p>
        </p:txBody>
      </p:sp>
      <p:sp>
        <p:nvSpPr>
          <p:cNvPr id="5" name="Text 3"/>
          <p:cNvSpPr txBox="1"/>
          <p:nvPr/>
        </p:nvSpPr>
        <p:spPr>
          <a:xfrm>
            <a:off x="630936" y="3273552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00" dirty="0">
                <a:solidFill>
                  <a:schemeClr val="accent6"/>
                </a:solidFill>
              </a:rPr>
              <a:t>32203482 이종하</a:t>
            </a:r>
            <a:endParaRPr lang="ko-KR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중간발표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목차</a:t>
            </a:r>
            <a:endParaRPr lang="en-US" sz="195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01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79576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아이디어 발표 요약</a:t>
            </a:r>
            <a:endParaRPr lang="ko-KR" sz="1250" dirty="0"/>
          </a:p>
        </p:txBody>
      </p:sp>
      <p:sp>
        <p:nvSpPr>
          <p:cNvPr id="6" name="Shape 4"/>
          <p:cNvSpPr/>
          <p:nvPr/>
        </p:nvSpPr>
        <p:spPr>
          <a:xfrm>
            <a:off x="630936" y="1938528"/>
            <a:ext cx="380390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0936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02</a:t>
            </a:r>
            <a:endParaRPr lang="ko-KR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79576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만든 것</a:t>
            </a:r>
            <a:endParaRPr lang="ko-KR" sz="1250" dirty="0"/>
          </a:p>
        </p:txBody>
      </p:sp>
      <p:sp>
        <p:nvSpPr>
          <p:cNvPr id="9" name="Shape 7"/>
          <p:cNvSpPr/>
          <p:nvPr/>
        </p:nvSpPr>
        <p:spPr>
          <a:xfrm>
            <a:off x="630936" y="2596896"/>
            <a:ext cx="380390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" y="2779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03</a:t>
            </a:r>
            <a:endParaRPr lang="ko-KR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79576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기록 방법</a:t>
            </a:r>
            <a:endParaRPr lang="ko-KR" sz="1250" dirty="0"/>
          </a:p>
        </p:txBody>
      </p:sp>
      <p:sp>
        <p:nvSpPr>
          <p:cNvPr id="12" name="Shape 10"/>
          <p:cNvSpPr/>
          <p:nvPr/>
        </p:nvSpPr>
        <p:spPr>
          <a:xfrm>
            <a:off x="630936" y="3255264"/>
            <a:ext cx="380390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" y="34381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04</a:t>
            </a:r>
            <a:endParaRPr lang="ko-KR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79576" y="3438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걷기와 동결 흉내 비교</a:t>
            </a:r>
            <a:endParaRPr lang="ko-KR" sz="1250" dirty="0"/>
          </a:p>
        </p:txBody>
      </p:sp>
      <p:sp>
        <p:nvSpPr>
          <p:cNvPr id="15" name="Shape 13"/>
          <p:cNvSpPr/>
          <p:nvPr/>
        </p:nvSpPr>
        <p:spPr>
          <a:xfrm>
            <a:off x="630936" y="3913632"/>
            <a:ext cx="380390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0916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05</a:t>
            </a:r>
            <a:endParaRPr lang="ko-KR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판정 방법과 결과</a:t>
            </a:r>
            <a:endParaRPr lang="ko-KR" sz="1250" dirty="0"/>
          </a:p>
        </p:txBody>
      </p:sp>
      <p:sp>
        <p:nvSpPr>
          <p:cNvPr id="18" name="Shape 16"/>
          <p:cNvSpPr/>
          <p:nvPr/>
        </p:nvSpPr>
        <p:spPr>
          <a:xfrm>
            <a:off x="4709160" y="1938528"/>
            <a:ext cx="380390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9160" y="21214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06</a:t>
            </a:r>
            <a:endParaRPr lang="ko-KR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25780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아이디어 발표 이후 바뀐 점</a:t>
            </a:r>
            <a:endParaRPr lang="ko-KR" sz="1250" dirty="0"/>
          </a:p>
        </p:txBody>
      </p:sp>
      <p:sp>
        <p:nvSpPr>
          <p:cNvPr id="21" name="Shape 19"/>
          <p:cNvSpPr/>
          <p:nvPr/>
        </p:nvSpPr>
        <p:spPr>
          <a:xfrm>
            <a:off x="4709160" y="2596896"/>
            <a:ext cx="380390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09160" y="27797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07</a:t>
            </a:r>
            <a:endParaRPr lang="ko-KR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257800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한계</a:t>
            </a:r>
            <a:endParaRPr lang="ko-KR" sz="1250" dirty="0"/>
          </a:p>
        </p:txBody>
      </p:sp>
      <p:sp>
        <p:nvSpPr>
          <p:cNvPr id="24" name="Shape 22"/>
          <p:cNvSpPr/>
          <p:nvPr/>
        </p:nvSpPr>
        <p:spPr>
          <a:xfrm>
            <a:off x="4709160" y="3255264"/>
            <a:ext cx="380390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9160" y="34381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600" b="1" dirty="0">
                <a:solidFill>
                  <a:schemeClr val="accent1"/>
                </a:solidFill>
              </a:rPr>
              <a:t>08</a:t>
            </a:r>
            <a:endParaRPr lang="ko-KR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3438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1250" b="1" dirty="0">
                <a:solidFill>
                  <a:schemeClr val="tx1"/>
                </a:solidFill>
              </a:rPr>
              <a:t>구현할 것</a:t>
            </a:r>
            <a:endParaRPr lang="ko-KR" sz="1250" dirty="0"/>
          </a:p>
        </p:txBody>
      </p:sp>
      <p:sp>
        <p:nvSpPr>
          <p:cNvPr id="27" name="Shape 25"/>
          <p:cNvSpPr/>
          <p:nvPr/>
        </p:nvSpPr>
        <p:spPr>
          <a:xfrm>
            <a:off x="4709160" y="3913632"/>
            <a:ext cx="380390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01  아이디어 발표 요약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만들려는 것</a:t>
            </a:r>
            <a:endParaRPr lang="en-US" sz="195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71600"/>
            <a:ext cx="7882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accent1"/>
                </a:solidFill>
              </a:rPr>
              <a:t>문제  </a:t>
            </a:r>
            <a:pPr indent="0" marL="0">
              <a:buNone/>
            </a:pPr>
            <a:r>
              <a:rPr lang="ko-KR" altLang="en-US" sz="1100" dirty="0">
                <a:solidFill>
                  <a:schemeClr val="tx1"/>
                </a:solidFill>
              </a:rPr>
              <a:t>파킨슨 환자는 걷다가 갑자기 발이 바닥에 붙음 (보행 동결)</a:t>
            </a:r>
            <a:endParaRPr lang="ko-KR" sz="1100" dirty="0"/>
          </a:p>
        </p:txBody>
      </p:sp>
      <p:sp>
        <p:nvSpPr>
          <p:cNvPr id="5" name="Shape 3"/>
          <p:cNvSpPr/>
          <p:nvPr/>
        </p:nvSpPr>
        <p:spPr>
          <a:xfrm>
            <a:off x="630936" y="1874520"/>
            <a:ext cx="2322576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3816" y="2020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1</a:t>
            </a:r>
            <a:endParaRPr lang="ko-KR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22768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걸음 측정</a:t>
            </a:r>
            <a:endParaRPr lang="ko-KR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25328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허리에 찬 가속도 센서</a:t>
            </a:r>
            <a:endParaRPr lang="ko-KR" sz="900" dirty="0"/>
          </a:p>
        </p:txBody>
      </p:sp>
      <p:sp>
        <p:nvSpPr>
          <p:cNvPr id="9" name="Shape 7"/>
          <p:cNvSpPr/>
          <p:nvPr/>
        </p:nvSpPr>
        <p:spPr>
          <a:xfrm>
            <a:off x="3044952" y="2354580"/>
            <a:ext cx="27432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10712" y="1874520"/>
            <a:ext cx="2322576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2020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2</a:t>
            </a:r>
            <a:endParaRPr lang="ko-KR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2768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동결 감지</a:t>
            </a:r>
            <a:endParaRPr lang="ko-KR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25328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발이 안 떨어지는 순간</a:t>
            </a:r>
            <a:endParaRPr lang="ko-KR" sz="900" dirty="0"/>
          </a:p>
        </p:txBody>
      </p:sp>
      <p:sp>
        <p:nvSpPr>
          <p:cNvPr id="14" name="Shape 12"/>
          <p:cNvSpPr/>
          <p:nvPr/>
        </p:nvSpPr>
        <p:spPr>
          <a:xfrm>
            <a:off x="5824728" y="2354580"/>
            <a:ext cx="274320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190488" y="1874520"/>
            <a:ext cx="2322576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73368" y="2020824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400" b="1" dirty="0">
                <a:solidFill>
                  <a:schemeClr val="accent1"/>
                </a:solidFill>
              </a:rPr>
              <a:t>3</a:t>
            </a:r>
            <a:endParaRPr lang="ko-KR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373368" y="2276856"/>
            <a:ext cx="19568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200" b="1" dirty="0">
                <a:solidFill>
                  <a:schemeClr val="tx1"/>
                </a:solidFill>
              </a:rPr>
              <a:t>박자 소리</a:t>
            </a:r>
            <a:endParaRPr lang="ko-KR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2532888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직전 걸음 빠르기에 맞춤</a:t>
            </a:r>
            <a:endParaRPr lang="ko-KR" sz="900" dirty="0"/>
          </a:p>
        </p:txBody>
      </p:sp>
      <p:sp>
        <p:nvSpPr>
          <p:cNvPr id="19" name="Shape 17"/>
          <p:cNvSpPr/>
          <p:nvPr/>
        </p:nvSpPr>
        <p:spPr>
          <a:xfrm>
            <a:off x="658368" y="3246120"/>
            <a:ext cx="50292" cy="50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" y="3200400"/>
            <a:ext cx="7699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계속 울리면 익숙해져 반응이 줄어듦, 그래서 동결일 때만 울림</a:t>
            </a:r>
            <a:endParaRPr lang="ko-KR" sz="950" dirty="0"/>
          </a:p>
        </p:txBody>
      </p:sp>
      <p:sp>
        <p:nvSpPr>
          <p:cNvPr id="21" name="Shape 19"/>
          <p:cNvSpPr/>
          <p:nvPr/>
        </p:nvSpPr>
        <p:spPr>
          <a:xfrm>
            <a:off x="658368" y="3575304"/>
            <a:ext cx="50292" cy="50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" y="3529584"/>
            <a:ext cx="7699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다시 걸으면 소리 멈춤</a:t>
            </a:r>
            <a:endParaRPr lang="ko-KR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02  만든 것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회로 연결</a:t>
            </a:r>
            <a:endParaRPr lang="en-US" sz="1950" dirty="0"/>
          </a:p>
        </p:txBody>
      </p:sp>
      <p:pic>
        <p:nvPicPr>
          <p:cNvPr id="4" name="Image 0" descr="ESP32와 MPU-6050, OLED, 수동 부저, 택트스위치 연결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298448"/>
            <a:ext cx="7882128" cy="320784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02  만든 것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기능 테스트</a:t>
            </a:r>
            <a:endParaRPr lang="en-US" sz="1950" dirty="0"/>
          </a:p>
        </p:txBody>
      </p:sp>
      <p:sp>
        <p:nvSpPr>
          <p:cNvPr id="4" name="Text 2"/>
          <p:cNvSpPr txBox="1"/>
          <p:nvPr/>
        </p:nvSpPr>
        <p:spPr>
          <a:xfrm>
            <a:off x="630936" y="1371600"/>
            <a:ext cx="2481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부저 테스트</a:t>
            </a:r>
            <a:endParaRPr lang="ko-KR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331464" y="1371600"/>
            <a:ext cx="2481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버튼 테스트</a:t>
            </a:r>
            <a:endParaRPr lang="ko-KR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031992" y="1371600"/>
            <a:ext cx="2481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진동 테스트</a:t>
            </a:r>
            <a:endParaRPr lang="ko-KR" sz="1100" dirty="0"/>
          </a:p>
        </p:txBody>
      </p:sp>
      <p:sp>
        <p:nvSpPr>
          <p:cNvPr id="7" name="Text 4"/>
          <p:cNvSpPr/>
          <p:nvPr>
            <p:ph idx="106" hasCustomPrompt="1"/>
          </p:nvPr>
        </p:nvSpPr>
        <p:spPr>
          <a:xfrm>
            <a:off x="630936" y="1691640"/>
            <a:ext cx="2480767" cy="1737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4"/>
          <p:cNvSpPr/>
          <p:nvPr>
            <p:ph idx="107" type="body" hasCustomPrompt="1"/>
          </p:nvPr>
        </p:nvSpPr>
        <p:spPr>
          <a:xfrm>
            <a:off x="630936" y="3566160"/>
            <a:ext cx="2480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9" name="Text 4"/>
          <p:cNvSpPr/>
          <p:nvPr>
            <p:ph idx="108" hasCustomPrompt="1"/>
          </p:nvPr>
        </p:nvSpPr>
        <p:spPr>
          <a:xfrm>
            <a:off x="3331159" y="1691640"/>
            <a:ext cx="2480767" cy="1737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4"/>
          <p:cNvSpPr/>
          <p:nvPr>
            <p:ph idx="109" type="body" hasCustomPrompt="1"/>
          </p:nvPr>
        </p:nvSpPr>
        <p:spPr>
          <a:xfrm>
            <a:off x="3331159" y="3566160"/>
            <a:ext cx="2480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11" name="Text 4"/>
          <p:cNvSpPr/>
          <p:nvPr>
            <p:ph idx="110" hasCustomPrompt="1"/>
          </p:nvPr>
        </p:nvSpPr>
        <p:spPr>
          <a:xfrm>
            <a:off x="6032297" y="1691640"/>
            <a:ext cx="2480767" cy="17373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4"/>
          <p:cNvSpPr/>
          <p:nvPr>
            <p:ph idx="111" type="body" hasCustomPrompt="1"/>
          </p:nvPr>
        </p:nvSpPr>
        <p:spPr>
          <a:xfrm>
            <a:off x="6032297" y="3566160"/>
            <a:ext cx="248076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02  만든 것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착용과 기록 환경</a:t>
            </a:r>
            <a:endParaRPr lang="en-US" sz="1950" dirty="0"/>
          </a:p>
        </p:txBody>
      </p:sp>
      <p:pic>
        <p:nvPicPr>
          <p:cNvPr id="4" name="Image 0" descr="허리 뒤쪽에 고정한 기기와 USB로 연결한 맥북 기록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" y="1371600"/>
            <a:ext cx="4297680" cy="266456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0" y="150876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62.0~62.4 Hz</a:t>
            </a:r>
            <a:endParaRPr lang="ko-KR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0" y="1911096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dirty="0">
                <a:solidFill>
                  <a:schemeClr val="accent6"/>
                </a:solidFill>
              </a:rPr>
              <a:t>샘플레이트 (설계값 62.5 Hz)</a:t>
            </a:r>
            <a:endParaRPr lang="ko-KR" sz="850" dirty="0"/>
          </a:p>
        </p:txBody>
      </p:sp>
      <p:sp>
        <p:nvSpPr>
          <p:cNvPr id="7" name="Text 4"/>
          <p:cNvSpPr txBox="1"/>
          <p:nvPr/>
        </p:nvSpPr>
        <p:spPr>
          <a:xfrm>
            <a:off x="5486400" y="2377440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2000" b="1" dirty="0">
                <a:solidFill>
                  <a:schemeClr val="tx1"/>
                </a:solidFill>
              </a:rPr>
              <a:t>32 / 32</a:t>
            </a:r>
            <a:endParaRPr lang="ko-KR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5486400" y="2779776"/>
            <a:ext cx="3026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dirty="0">
                <a:solidFill>
                  <a:schemeClr val="accent6"/>
                </a:solidFill>
              </a:rPr>
              <a:t>걸음 세기 (32걸음씩 2회, 놓침과 중복 없음)</a:t>
            </a:r>
            <a:endParaRPr lang="ko-KR" sz="850" dirty="0"/>
          </a:p>
        </p:txBody>
      </p:sp>
      <p:sp>
        <p:nvSpPr>
          <p:cNvPr id="9" name="Shape 6"/>
          <p:cNvSpPr/>
          <p:nvPr/>
        </p:nvSpPr>
        <p:spPr>
          <a:xfrm>
            <a:off x="5486400" y="3246120"/>
            <a:ext cx="3026664" cy="0"/>
          </a:xfrm>
          <a:prstGeom prst="line">
            <a:avLst/>
          </a:prstGeom>
          <a:noFill/>
          <a:ln w="9525">
            <a:solidFill>
              <a:srgbClr val="E0E0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0" y="3401568"/>
            <a:ext cx="30266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손에 들고 재면 손 떨림이 동결처럼 나와서 허리에 고정함</a:t>
            </a:r>
            <a:endParaRPr lang="ko-KR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03  기록 방법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걷기와 동결 흉내 영상</a:t>
            </a:r>
            <a:endParaRPr lang="en-US" sz="195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30936" y="1371600"/>
            <a:ext cx="3803904" cy="216603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30936" y="362907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걷기</a:t>
            </a:r>
            <a:endParaRPr lang="ko-KR" sz="1000" dirty="0"/>
          </a:p>
        </p:txBody>
      </p:sp>
      <p:pic>
        <p:nvPicPr>
          <p:cNvPr id="6" name="Media 1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4709160" y="1371600"/>
            <a:ext cx="3803904" cy="216603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709160" y="3629070"/>
            <a:ext cx="3803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00" b="1" dirty="0">
                <a:solidFill>
                  <a:schemeClr val="tx1"/>
                </a:solidFill>
              </a:rPr>
              <a:t>동결 흉내</a:t>
            </a:r>
            <a:endParaRPr lang="ko-KR" sz="1000" dirty="0"/>
          </a:p>
        </p:txBody>
      </p:sp>
      <p:sp>
        <p:nvSpPr>
          <p:cNvPr id="8" name="Shape 4"/>
          <p:cNvSpPr/>
          <p:nvPr/>
        </p:nvSpPr>
        <p:spPr>
          <a:xfrm>
            <a:off x="658368" y="3977640"/>
            <a:ext cx="50292" cy="50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13816" y="3931920"/>
            <a:ext cx="7699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왼쪽은 복도 영상, 오른쪽은 같은 시각의 기록 화면</a:t>
            </a:r>
            <a:endParaRPr lang="ko-KR" sz="950" dirty="0"/>
          </a:p>
        </p:txBody>
      </p:sp>
      <p:sp>
        <p:nvSpPr>
          <p:cNvPr id="10" name="Shape 6"/>
          <p:cNvSpPr/>
          <p:nvPr/>
        </p:nvSpPr>
        <p:spPr>
          <a:xfrm>
            <a:off x="658368" y="4251960"/>
            <a:ext cx="50292" cy="50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13816" y="4206240"/>
            <a:ext cx="7699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떨기 시작과 끝을 기록 화면에서 직접 표시</a:t>
            </a:r>
            <a:endParaRPr lang="ko-KR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04  걷기와 동결 흉내 비교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흔들림 크기와 걸음 규칙성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50292" cy="50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463040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흔들림 크기: 걷기 0.14~0.21 g, 흉내 0.08~0.24 g</a:t>
            </a:r>
            <a:endParaRPr lang="ko-KR" sz="950" dirty="0"/>
          </a:p>
        </p:txBody>
      </p:sp>
      <p:sp>
        <p:nvSpPr>
          <p:cNvPr id="6" name="Shape 4"/>
          <p:cNvSpPr/>
          <p:nvPr/>
        </p:nvSpPr>
        <p:spPr>
          <a:xfrm>
            <a:off x="658368" y="1929384"/>
            <a:ext cx="50292" cy="50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13816" y="1883664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걸음 규칙성: 걷기 0.43~0.68, 흉내 0.09~0.37</a:t>
            </a:r>
            <a:endParaRPr lang="ko-KR" sz="950" dirty="0"/>
          </a:p>
        </p:txBody>
      </p:sp>
      <p:sp>
        <p:nvSpPr>
          <p:cNvPr id="8" name="Shape 6"/>
          <p:cNvSpPr/>
          <p:nvPr/>
        </p:nvSpPr>
        <p:spPr>
          <a:xfrm>
            <a:off x="658368" y="2350008"/>
            <a:ext cx="50292" cy="50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13816" y="2304288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3~8 Hz 떨림(FI): 흉내 7구간 중 3구간에서 약함</a:t>
            </a:r>
            <a:endParaRPr lang="ko-KR" sz="950" dirty="0"/>
          </a:p>
        </p:txBody>
      </p:sp>
      <p:sp>
        <p:nvSpPr>
          <p:cNvPr id="10" name="Shape 8"/>
          <p:cNvSpPr/>
          <p:nvPr/>
        </p:nvSpPr>
        <p:spPr>
          <a:xfrm>
            <a:off x="658368" y="2770632"/>
            <a:ext cx="50292" cy="50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" y="2724912"/>
            <a:ext cx="3291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떠는 동안에도 걸음이 세어짐 (끊긴 시간 최대 0.7~2.1초)</a:t>
            </a:r>
            <a:endParaRPr lang="ko-KR" sz="950" dirty="0"/>
          </a:p>
        </p:txBody>
      </p:sp>
      <p:sp>
        <p:nvSpPr>
          <p:cNvPr id="12" name="Shape 10"/>
          <p:cNvSpPr/>
          <p:nvPr/>
        </p:nvSpPr>
        <p:spPr>
          <a:xfrm>
            <a:off x="630936" y="3310128"/>
            <a:ext cx="3429000" cy="5486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95528" y="3310128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ko-KR" altLang="en-US" sz="850" b="1" dirty="0">
                <a:solidFill>
                  <a:schemeClr val="tx1"/>
                </a:solidFill>
              </a:rPr>
              <a:t>걸음 규칙성  </a:t>
            </a:r>
            <a:pPr indent="0" marL="0">
              <a:buNone/>
            </a:pPr>
            <a:r>
              <a:rPr lang="ko-KR" altLang="en-US" sz="850" dirty="0">
                <a:solidFill>
                  <a:schemeClr val="tx2"/>
                </a:solidFill>
              </a:rPr>
              <a:t>같은 모양의 걸음이 반복되는 정도 (0~1)</a:t>
            </a:r>
            <a:endParaRPr lang="ko-KR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1371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00" b="1" dirty="0">
                <a:solidFill>
                  <a:schemeClr val="tx1"/>
                </a:solidFill>
              </a:rPr>
              <a:t>흔들림 크기 (g)</a:t>
            </a:r>
            <a:endParaRPr lang="ko-KR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1618488"/>
            <a:ext cx="0" cy="6858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212080" y="2340864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650" dirty="0">
                <a:solidFill>
                  <a:schemeClr val="accent6"/>
                </a:solidFill>
              </a:rPr>
              <a:t>0</a:t>
            </a:r>
            <a:endParaRPr lang="ko-KR" sz="650" dirty="0"/>
          </a:p>
        </p:txBody>
      </p:sp>
      <p:sp>
        <p:nvSpPr>
          <p:cNvPr id="17" name="Shape 15"/>
          <p:cNvSpPr/>
          <p:nvPr/>
        </p:nvSpPr>
        <p:spPr>
          <a:xfrm>
            <a:off x="6461760" y="1618488"/>
            <a:ext cx="0" cy="6858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187440" y="2340864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650" dirty="0">
                <a:solidFill>
                  <a:schemeClr val="accent6"/>
                </a:solidFill>
              </a:rPr>
              <a:t>0.1</a:t>
            </a:r>
            <a:endParaRPr lang="ko-KR" sz="650" dirty="0"/>
          </a:p>
        </p:txBody>
      </p:sp>
      <p:sp>
        <p:nvSpPr>
          <p:cNvPr id="19" name="Shape 17"/>
          <p:cNvSpPr/>
          <p:nvPr/>
        </p:nvSpPr>
        <p:spPr>
          <a:xfrm>
            <a:off x="7437120" y="1618488"/>
            <a:ext cx="0" cy="6858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162800" y="2340864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650" dirty="0">
                <a:solidFill>
                  <a:schemeClr val="accent6"/>
                </a:solidFill>
              </a:rPr>
              <a:t>0.2</a:t>
            </a:r>
            <a:endParaRPr lang="ko-KR" sz="650" dirty="0"/>
          </a:p>
        </p:txBody>
      </p:sp>
      <p:sp>
        <p:nvSpPr>
          <p:cNvPr id="21" name="Shape 19"/>
          <p:cNvSpPr/>
          <p:nvPr/>
        </p:nvSpPr>
        <p:spPr>
          <a:xfrm>
            <a:off x="8412480" y="1618488"/>
            <a:ext cx="0" cy="6858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38160" y="2340864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650" dirty="0">
                <a:solidFill>
                  <a:schemeClr val="accent6"/>
                </a:solidFill>
              </a:rPr>
              <a:t>0.3</a:t>
            </a:r>
            <a:endParaRPr lang="ko-KR" sz="650" dirty="0"/>
          </a:p>
        </p:txBody>
      </p:sp>
      <p:sp>
        <p:nvSpPr>
          <p:cNvPr id="23" name="Shape 21"/>
          <p:cNvSpPr/>
          <p:nvPr/>
        </p:nvSpPr>
        <p:spPr>
          <a:xfrm>
            <a:off x="5486400" y="2304288"/>
            <a:ext cx="2926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43400" y="164592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chemeClr val="tx1"/>
                </a:solidFill>
              </a:rPr>
              <a:t>걷기</a:t>
            </a:r>
            <a:endParaRPr lang="ko-KR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4343400" y="180136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700" dirty="0">
                <a:solidFill>
                  <a:schemeClr val="accent6"/>
                </a:solidFill>
              </a:rPr>
              <a:t>0.14~0.21</a:t>
            </a:r>
            <a:endParaRPr lang="ko-KR" sz="700" dirty="0"/>
          </a:p>
        </p:txBody>
      </p:sp>
      <p:sp>
        <p:nvSpPr>
          <p:cNvPr id="26" name="Shape 24"/>
          <p:cNvSpPr/>
          <p:nvPr/>
        </p:nvSpPr>
        <p:spPr>
          <a:xfrm>
            <a:off x="6851904" y="1728216"/>
            <a:ext cx="682752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43400" y="197510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chemeClr val="tx1"/>
                </a:solidFill>
              </a:rPr>
              <a:t>동결 흉내</a:t>
            </a:r>
            <a:endParaRPr lang="ko-KR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4343400" y="213055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700" dirty="0">
                <a:solidFill>
                  <a:schemeClr val="accent6"/>
                </a:solidFill>
              </a:rPr>
              <a:t>0.08~0.24</a:t>
            </a:r>
            <a:endParaRPr lang="ko-KR" sz="700" dirty="0"/>
          </a:p>
        </p:txBody>
      </p:sp>
      <p:sp>
        <p:nvSpPr>
          <p:cNvPr id="29" name="Shape 27"/>
          <p:cNvSpPr/>
          <p:nvPr/>
        </p:nvSpPr>
        <p:spPr>
          <a:xfrm>
            <a:off x="6266688" y="2057400"/>
            <a:ext cx="1560576" cy="10972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343400" y="27432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00" b="1" dirty="0">
                <a:solidFill>
                  <a:schemeClr val="tx1"/>
                </a:solidFill>
              </a:rPr>
              <a:t>걸음 규칙성 (0~1)</a:t>
            </a:r>
            <a:endParaRPr lang="ko-KR" sz="900" dirty="0"/>
          </a:p>
        </p:txBody>
      </p:sp>
      <p:sp>
        <p:nvSpPr>
          <p:cNvPr id="31" name="Shape 29"/>
          <p:cNvSpPr/>
          <p:nvPr/>
        </p:nvSpPr>
        <p:spPr>
          <a:xfrm>
            <a:off x="5486400" y="2990088"/>
            <a:ext cx="0" cy="6858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212080" y="3712464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650" dirty="0">
                <a:solidFill>
                  <a:schemeClr val="accent6"/>
                </a:solidFill>
              </a:rPr>
              <a:t>0</a:t>
            </a:r>
            <a:endParaRPr lang="ko-KR" sz="650" dirty="0"/>
          </a:p>
        </p:txBody>
      </p:sp>
      <p:sp>
        <p:nvSpPr>
          <p:cNvPr id="33" name="Shape 31"/>
          <p:cNvSpPr/>
          <p:nvPr/>
        </p:nvSpPr>
        <p:spPr>
          <a:xfrm>
            <a:off x="6949440" y="2990088"/>
            <a:ext cx="0" cy="6858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675120" y="3712464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650" dirty="0">
                <a:solidFill>
                  <a:schemeClr val="accent6"/>
                </a:solidFill>
              </a:rPr>
              <a:t>0.5</a:t>
            </a:r>
            <a:endParaRPr lang="ko-KR" sz="650" dirty="0"/>
          </a:p>
        </p:txBody>
      </p:sp>
      <p:sp>
        <p:nvSpPr>
          <p:cNvPr id="35" name="Shape 33"/>
          <p:cNvSpPr/>
          <p:nvPr/>
        </p:nvSpPr>
        <p:spPr>
          <a:xfrm>
            <a:off x="8412480" y="2990088"/>
            <a:ext cx="0" cy="68580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38160" y="3712464"/>
            <a:ext cx="5486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650" dirty="0">
                <a:solidFill>
                  <a:schemeClr val="accent6"/>
                </a:solidFill>
              </a:rPr>
              <a:t>1</a:t>
            </a:r>
            <a:endParaRPr lang="ko-KR" sz="650" dirty="0"/>
          </a:p>
        </p:txBody>
      </p:sp>
      <p:sp>
        <p:nvSpPr>
          <p:cNvPr id="37" name="Shape 35"/>
          <p:cNvSpPr/>
          <p:nvPr/>
        </p:nvSpPr>
        <p:spPr>
          <a:xfrm>
            <a:off x="5486400" y="3675888"/>
            <a:ext cx="292608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343400" y="301752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chemeClr val="tx1"/>
                </a:solidFill>
              </a:rPr>
              <a:t>걷기</a:t>
            </a:r>
            <a:endParaRPr lang="ko-KR" sz="850" dirty="0"/>
          </a:p>
        </p:txBody>
      </p:sp>
      <p:sp>
        <p:nvSpPr>
          <p:cNvPr id="39" name="Text 37"/>
          <p:cNvSpPr txBox="1"/>
          <p:nvPr/>
        </p:nvSpPr>
        <p:spPr>
          <a:xfrm>
            <a:off x="4343400" y="3172968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700" dirty="0">
                <a:solidFill>
                  <a:schemeClr val="accent6"/>
                </a:solidFill>
              </a:rPr>
              <a:t>0.43~0.68</a:t>
            </a:r>
            <a:endParaRPr lang="ko-KR" sz="700" dirty="0"/>
          </a:p>
        </p:txBody>
      </p:sp>
      <p:sp>
        <p:nvSpPr>
          <p:cNvPr id="40" name="Shape 38"/>
          <p:cNvSpPr/>
          <p:nvPr/>
        </p:nvSpPr>
        <p:spPr>
          <a:xfrm>
            <a:off x="6744614" y="3099816"/>
            <a:ext cx="731520" cy="10972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343400" y="3346704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b="1" dirty="0">
                <a:solidFill>
                  <a:schemeClr val="tx1"/>
                </a:solidFill>
              </a:rPr>
              <a:t>동결 흉내</a:t>
            </a:r>
            <a:endParaRPr lang="ko-KR" sz="850" dirty="0"/>
          </a:p>
        </p:txBody>
      </p:sp>
      <p:sp>
        <p:nvSpPr>
          <p:cNvPr id="42" name="Text 40"/>
          <p:cNvSpPr txBox="1"/>
          <p:nvPr/>
        </p:nvSpPr>
        <p:spPr>
          <a:xfrm>
            <a:off x="4343400" y="3502152"/>
            <a:ext cx="10515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700" dirty="0">
                <a:solidFill>
                  <a:schemeClr val="accent6"/>
                </a:solidFill>
              </a:rPr>
              <a:t>0.09~0.37</a:t>
            </a:r>
            <a:endParaRPr lang="ko-KR" sz="700" dirty="0"/>
          </a:p>
        </p:txBody>
      </p:sp>
      <p:sp>
        <p:nvSpPr>
          <p:cNvPr id="43" name="Shape 41"/>
          <p:cNvSpPr/>
          <p:nvPr/>
        </p:nvSpPr>
        <p:spPr>
          <a:xfrm>
            <a:off x="5749747" y="3429000"/>
            <a:ext cx="819302" cy="10972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86093" y="2944368"/>
            <a:ext cx="0" cy="73152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</a:ln>
        </p:spPr>
      </p:sp>
      <p:sp>
        <p:nvSpPr>
          <p:cNvPr id="45" name="Text 43"/>
          <p:cNvSpPr txBox="1"/>
          <p:nvPr/>
        </p:nvSpPr>
        <p:spPr>
          <a:xfrm>
            <a:off x="6320333" y="2816352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ko-KR" altLang="en-US" sz="650" dirty="0">
                <a:solidFill>
                  <a:schemeClr val="tx1"/>
                </a:solidFill>
              </a:rPr>
              <a:t>기준 0.41</a:t>
            </a:r>
            <a:endParaRPr lang="ko-KR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05  판정 방법과 결과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판정 조건과 결과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160020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30936" y="146304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움직임 세기 ≥ 0.005</a:t>
            </a:r>
            <a:endParaRPr lang="ko-KR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231136" y="146304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chemeClr val="accent1"/>
                </a:solidFill>
              </a:rPr>
              <a:t>그리고</a:t>
            </a:r>
            <a:endParaRPr lang="ko-KR" sz="850" dirty="0"/>
          </a:p>
        </p:txBody>
      </p:sp>
      <p:sp>
        <p:nvSpPr>
          <p:cNvPr id="7" name="Shape 5"/>
          <p:cNvSpPr/>
          <p:nvPr/>
        </p:nvSpPr>
        <p:spPr>
          <a:xfrm>
            <a:off x="2734056" y="1371600"/>
            <a:ext cx="3776472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rgbClr val="CCCCCC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825496" y="1463040"/>
            <a:ext cx="1572768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25496" y="146304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걸음 규칙성 &lt; 0.41</a:t>
            </a:r>
            <a:endParaRPr lang="ko-KR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398264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850" b="1" dirty="0">
                <a:solidFill>
                  <a:schemeClr val="accent1"/>
                </a:solidFill>
              </a:rPr>
              <a:t>또는</a:t>
            </a:r>
            <a:endParaRPr lang="ko-KR" sz="850" dirty="0"/>
          </a:p>
        </p:txBody>
      </p:sp>
      <p:sp>
        <p:nvSpPr>
          <p:cNvPr id="11" name="Shape 9"/>
          <p:cNvSpPr/>
          <p:nvPr/>
        </p:nvSpPr>
        <p:spPr>
          <a:xfrm>
            <a:off x="4855464" y="1463040"/>
            <a:ext cx="1563624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55464" y="1463040"/>
            <a:ext cx="1563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tx1"/>
                </a:solidFill>
              </a:rPr>
              <a:t>FI ≥ 1.5</a:t>
            </a:r>
            <a:endParaRPr lang="ko-KR" sz="950" dirty="0"/>
          </a:p>
        </p:txBody>
      </p:sp>
      <p:sp>
        <p:nvSpPr>
          <p:cNvPr id="13" name="Shape 11"/>
          <p:cNvSpPr/>
          <p:nvPr/>
        </p:nvSpPr>
        <p:spPr>
          <a:xfrm>
            <a:off x="6565392" y="1691640"/>
            <a:ext cx="301752" cy="0"/>
          </a:xfrm>
          <a:prstGeom prst="line">
            <a:avLst/>
          </a:prstGeom>
          <a:noFill/>
          <a:ln w="1587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22008" y="1463040"/>
            <a:ext cx="1591056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22008" y="146304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ko-KR" altLang="en-US" sz="950" b="1" dirty="0">
                <a:solidFill>
                  <a:schemeClr val="bg1"/>
                </a:solidFill>
              </a:rPr>
              <a:t>2회 연속이면 울림</a:t>
            </a:r>
            <a:endParaRPr lang="ko-KR" sz="950" dirty="0"/>
          </a:p>
        </p:txBody>
      </p:sp>
      <p:sp>
        <p:nvSpPr>
          <p:cNvPr id="16" name="Shape 14"/>
          <p:cNvSpPr/>
          <p:nvPr/>
        </p:nvSpPr>
        <p:spPr>
          <a:xfrm>
            <a:off x="658368" y="2286000"/>
            <a:ext cx="50292" cy="50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3816" y="2240280"/>
            <a:ext cx="7699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FI를 같이 보는 이유: 일정한 박자로 떨면 규칙성이 높게 나옴</a:t>
            </a:r>
            <a:endParaRPr lang="ko-KR" sz="9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" y="2651760"/>
          <a:ext cx="7882128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91640"/>
                <a:gridCol w="1691640"/>
                <a:gridCol w="1755648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accent6"/>
                          </a:solidFill>
                        </a:rPr>
                        <a:t>판정 방식</a:t>
                      </a:r>
                      <a:endParaRPr lang="en-US" sz="8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accent6"/>
                          </a:solidFill>
                        </a:rPr>
                        <a:t>잡힌 흉내</a:t>
                      </a:r>
                      <a:endParaRPr lang="en-US" sz="8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accent6"/>
                          </a:solidFill>
                        </a:rPr>
                        <a:t>판정까지</a:t>
                      </a:r>
                      <a:endParaRPr lang="en-US" sz="8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accent6"/>
                          </a:solidFill>
                        </a:rPr>
                        <a:t>걷기 중 오작동</a:t>
                      </a:r>
                      <a:endParaRPr lang="en-US" sz="8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FI만 (아이디어 발표)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4 / 7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4.6초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tx2"/>
                          </a:solidFill>
                        </a:rPr>
                        <a:t>0회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규칙성 + FI (현재)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7 / 7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3.0초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tx1"/>
                          </a:solidFill>
                        </a:rPr>
                        <a:t>0회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658368" y="4069080"/>
            <a:ext cx="50292" cy="5029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13816" y="4023360"/>
            <a:ext cx="76992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50" dirty="0">
                <a:solidFill>
                  <a:schemeClr val="tx2"/>
                </a:solidFill>
              </a:rPr>
              <a:t>PC와 기기 계산 결과 일치 (소수 넷째 자리까지)</a:t>
            </a:r>
            <a:endParaRPr lang="ko-KR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06  아이디어 발표 이후 바뀐 점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변경 사항</a:t>
            </a:r>
            <a:endParaRPr lang="en-US" sz="19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" y="1417320"/>
          <a:ext cx="7882128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463040"/>
                <a:gridCol w="2011680"/>
                <a:gridCol w="3447288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accent6"/>
                          </a:solidFill>
                        </a:rPr>
                        <a:t>항목</a:t>
                      </a:r>
                      <a:endParaRPr lang="en-US" sz="8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accent6"/>
                          </a:solidFill>
                        </a:rPr>
                        <a:t>아이디어 발표</a:t>
                      </a:r>
                      <a:endParaRPr lang="en-US" sz="8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accent6"/>
                          </a:solidFill>
                        </a:rPr>
                        <a:t>현재</a:t>
                      </a:r>
                      <a:endParaRPr lang="en-US" sz="8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chemeClr val="accent6"/>
                          </a:solidFill>
                        </a:rPr>
                        <a:t>비고</a:t>
                      </a:r>
                      <a:endParaRPr lang="en-US" sz="8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판정 기준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accent6"/>
                          </a:solidFill>
                        </a:rPr>
                        <a:t>FI만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규칙성 + FI + 움직임 세기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흉내 7구간 중 3구간은 FI가 약함</a:t>
                      </a:r>
                      <a:endParaRPr lang="en-US" sz="8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판정 시점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accent6"/>
                          </a:solidFill>
                        </a:rPr>
                        <a:t>발이 멈춘 뒤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걸음과 무관하게 계속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떠는 동안에도 걸음이 세어져 멈춤이 감지 안 됨</a:t>
                      </a:r>
                      <a:endParaRPr lang="en-US" sz="8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템포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accent6"/>
                          </a:solidFill>
                        </a:rPr>
                        <a:t>직전 케이던스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5초 전 케이던스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판정 무렵엔 떨림이 걸음으로 세어져 케이던스가 높게 나옴 (95~137, 평소 85~90)</a:t>
                      </a:r>
                      <a:endParaRPr lang="en-US" sz="8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끄는 시점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accent6"/>
                          </a:solidFill>
                        </a:rPr>
                        <a:t>다시 걸을 때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판정이 2회 연속 풀릴 때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떨림이 멈춘 뒤 2~3초 더 울림</a:t>
                      </a:r>
                      <a:endParaRPr lang="en-US" sz="8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택트스위치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chemeClr val="accent6"/>
                          </a:solidFill>
                        </a:rPr>
                        <a:t>4단계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tx1"/>
                          </a:solidFill>
                        </a:rPr>
                        <a:t>3단계부터</a:t>
                      </a:r>
                      <a:endParaRPr lang="en-US" sz="9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chemeClr val="tx2"/>
                          </a:solidFill>
                        </a:rPr>
                        <a:t>판정 시험 중 잘못 울린 소리를 바로 끄기 위해</a:t>
                      </a:r>
                      <a:endParaRPr lang="en-US" sz="85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07  한계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현재 한계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3803904" cy="10972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32104" y="168249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한 사람의 흉내 데이터</a:t>
            </a:r>
            <a:endParaRPr lang="ko-KR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32104" y="199339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같은 기록으로 기준값을 정해 실제보다 좋게 나옴</a:t>
            </a:r>
            <a:endParaRPr lang="ko-KR" sz="90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3803904" cy="109728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10328" y="1682496"/>
            <a:ext cx="3401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100" b="1" dirty="0">
                <a:solidFill>
                  <a:schemeClr val="tx1"/>
                </a:solidFill>
              </a:rPr>
              <a:t>걷기 외 동작에서 오작동</a:t>
            </a:r>
            <a:endParaRPr lang="ko-KR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910328" y="1993392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900" dirty="0">
                <a:solidFill>
                  <a:schemeClr val="tx2"/>
                </a:solidFill>
              </a:rPr>
              <a:t>서성이기, 방향 전환 등 표시하지 않은 70초 중 4회 울림</a:t>
            </a:r>
            <a:endParaRPr lang="ko-KR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630936" y="4023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08  구현할 것</a:t>
            </a:r>
            <a:endParaRPr lang="en-US" sz="8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630936" y="621792"/>
            <a:ext cx="7882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dirty="0">
                <a:solidFill>
                  <a:schemeClr val="tx1"/>
                </a:solidFill>
              </a:rPr>
              <a:t>구현할 것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630936" y="1463040"/>
            <a:ext cx="248107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3816" y="1645920"/>
            <a:ext cx="211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실시간 판정 시험</a:t>
            </a:r>
            <a:endParaRPr lang="ko-KR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1920240"/>
            <a:ext cx="2115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dirty="0">
                <a:solidFill>
                  <a:schemeClr val="tx2"/>
                </a:solidFill>
              </a:rPr>
              <a:t>웹 화면의 기능 시험으로 확인</a:t>
            </a:r>
            <a:endParaRPr lang="ko-KR" sz="850" dirty="0"/>
          </a:p>
        </p:txBody>
      </p:sp>
      <p:sp>
        <p:nvSpPr>
          <p:cNvPr id="7" name="Shape 5"/>
          <p:cNvSpPr/>
          <p:nvPr/>
        </p:nvSpPr>
        <p:spPr>
          <a:xfrm>
            <a:off x="3331464" y="1463040"/>
            <a:ext cx="248107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14344" y="1645920"/>
            <a:ext cx="211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방향 전환 구분</a:t>
            </a:r>
            <a:endParaRPr lang="ko-KR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514344" y="1920240"/>
            <a:ext cx="2115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dirty="0">
                <a:solidFill>
                  <a:schemeClr val="tx2"/>
                </a:solidFill>
              </a:rPr>
              <a:t>자이로로 회전을 재서 오작동 줄이기</a:t>
            </a:r>
            <a:endParaRPr lang="ko-KR" sz="850" dirty="0"/>
          </a:p>
        </p:txBody>
      </p:sp>
      <p:sp>
        <p:nvSpPr>
          <p:cNvPr id="10" name="Shape 8"/>
          <p:cNvSpPr/>
          <p:nvPr/>
        </p:nvSpPr>
        <p:spPr>
          <a:xfrm>
            <a:off x="6031992" y="1463040"/>
            <a:ext cx="248107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14872" y="1645920"/>
            <a:ext cx="211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낙상 감지</a:t>
            </a:r>
            <a:endParaRPr lang="ko-KR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214872" y="1920240"/>
            <a:ext cx="2115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dirty="0">
                <a:solidFill>
                  <a:schemeClr val="tx2"/>
                </a:solidFill>
              </a:rPr>
              <a:t>큰 충격 뒤 누운 자세가 이어지면 낙상</a:t>
            </a:r>
            <a:endParaRPr lang="ko-KR" sz="850" dirty="0"/>
          </a:p>
        </p:txBody>
      </p:sp>
      <p:sp>
        <p:nvSpPr>
          <p:cNvPr id="13" name="Shape 11"/>
          <p:cNvSpPr/>
          <p:nvPr/>
        </p:nvSpPr>
        <p:spPr>
          <a:xfrm>
            <a:off x="630936" y="2468880"/>
            <a:ext cx="248107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13816" y="2651760"/>
            <a:ext cx="211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무선 연결</a:t>
            </a:r>
            <a:endParaRPr lang="ko-KR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13816" y="2926080"/>
            <a:ext cx="2115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dirty="0">
                <a:solidFill>
                  <a:schemeClr val="tx2"/>
                </a:solidFill>
              </a:rPr>
              <a:t>휴대폰에서 상태와 기록 확인</a:t>
            </a:r>
            <a:endParaRPr lang="ko-KR" sz="850" dirty="0"/>
          </a:p>
        </p:txBody>
      </p:sp>
      <p:sp>
        <p:nvSpPr>
          <p:cNvPr id="16" name="Shape 14"/>
          <p:cNvSpPr/>
          <p:nvPr/>
        </p:nvSpPr>
        <p:spPr>
          <a:xfrm>
            <a:off x="3331464" y="2468880"/>
            <a:ext cx="248107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14344" y="2651760"/>
            <a:ext cx="211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보호자 알림</a:t>
            </a:r>
            <a:endParaRPr lang="ko-KR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514344" y="2926080"/>
            <a:ext cx="2115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dirty="0">
                <a:solidFill>
                  <a:schemeClr val="tx2"/>
                </a:solidFill>
              </a:rPr>
              <a:t>오래 굳어 있거나 넘어지면 알림</a:t>
            </a:r>
            <a:endParaRPr lang="ko-KR" sz="850" dirty="0"/>
          </a:p>
        </p:txBody>
      </p:sp>
      <p:sp>
        <p:nvSpPr>
          <p:cNvPr id="19" name="Shape 17"/>
          <p:cNvSpPr/>
          <p:nvPr/>
        </p:nvSpPr>
        <p:spPr>
          <a:xfrm>
            <a:off x="6031992" y="2468880"/>
            <a:ext cx="248107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14872" y="2651760"/>
            <a:ext cx="2115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1050" b="1" dirty="0">
                <a:solidFill>
                  <a:schemeClr val="tx1"/>
                </a:solidFill>
              </a:rPr>
              <a:t>심박 센서</a:t>
            </a:r>
            <a:endParaRPr lang="ko-KR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214872" y="2926080"/>
            <a:ext cx="2115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ko-KR" altLang="en-US" sz="850" dirty="0">
                <a:solidFill>
                  <a:schemeClr val="tx2"/>
                </a:solidFill>
              </a:rPr>
              <a:t>확장</a:t>
            </a:r>
            <a:endParaRPr lang="ko-KR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7964424" y="4754880"/>
            <a:ext cx="5486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BBBBBB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G-Cue">
  <a:themeElements>
    <a:clrScheme name="FoG-Cue">
      <a:dk1>
        <a:srgbClr val="111111"/>
      </a:dk1>
      <a:lt1>
        <a:srgbClr val="FFFFFF"/>
      </a:lt1>
      <a:dk2>
        <a:srgbClr val="444444"/>
      </a:dk2>
      <a:lt2>
        <a:srgbClr val="F5F5F5"/>
      </a:lt2>
      <a:accent1>
        <a:srgbClr val="00A651"/>
      </a:accent1>
      <a:accent2>
        <a:srgbClr val="1A73E8"/>
      </a:accent2>
      <a:accent3>
        <a:srgbClr val="0B7A3D"/>
      </a:accent3>
      <a:accent4>
        <a:srgbClr val="5CC98C"/>
      </a:accent4>
      <a:accent5>
        <a:srgbClr val="B8E6CC"/>
      </a:accent5>
      <a:accent6>
        <a:srgbClr val="888888"/>
      </a:accent6>
      <a:hlink>
        <a:srgbClr val="1A73E8"/>
      </a:hlink>
      <a:folHlink>
        <a:srgbClr val="0B7A3D"/>
      </a:folHlink>
    </a:clrScheme>
    <a:fontScheme name="FoG-Cu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보행동결 자극 시스템 — 중간발표</dc:title>
  <dc:subject>PptxGenJS Presentation</dc:subject>
  <dc:creator>이종하</dc:creator>
  <cp:lastModifiedBy>이종하</cp:lastModifiedBy>
  <cp:revision>1</cp:revision>
  <dcterms:created xsi:type="dcterms:W3CDTF">2026-10-28T07:10:52Z</dcterms:created>
  <dcterms:modified xsi:type="dcterms:W3CDTF">2026-10-28T07:10:52Z</dcterms:modified>
</cp:coreProperties>
</file>