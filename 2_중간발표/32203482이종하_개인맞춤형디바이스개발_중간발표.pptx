
<file path=[Content_Types].xml><?xml version="1.0" encoding="utf-8"?>
<Types xmlns="http://schemas.openxmlformats.org/package/2006/content-types"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6969E541-DB0F-CDB7-6926-22FF5FC7031F}">
          <p14:sldIdLst>
            <p14:sldId id="256"/>
            <p14:sldId id="257"/>
          </p14:sldIdLst>
        </p14:section>
        <p14:section name="요약" id="{82FED90E-6117-C423-6EA2-35003C67BD33}">
          <p14:sldIdLst>
            <p14:sldId id="258"/>
          </p14:sldIdLst>
        </p14:section>
        <p14:section name="구현한 것&#13;구현한 것&#13;구현한 것" id="{F330B2C1-9BCD-46C0-0453-99BE77402139}">
          <p14:sldIdLst>
            <p14:sldId id="259"/>
            <p14:sldId id="260"/>
            <p14:sldId id="261"/>
          </p14:sldIdLst>
        </p14:section>
        <p14:section name="기록" id="{1A45F4D9-0DF3-E605-1C31-35FA18ECD0BC}">
          <p14:sldIdLst>
            <p14:sldId id="262"/>
          </p14:sldIdLst>
        </p14:section>
        <p14:section name="비교" id="{01B8A2D2-ABE9-7F0C-6AE4-13BAD0816823}">
          <p14:sldIdLst>
            <p14:sldId id="263"/>
          </p14:sldIdLst>
        </p14:section>
        <p14:section name="판정" id="{C9260026-7E6F-638D-2625-01D139DC02FC}">
          <p14:sldIdLst>
            <p14:sldId id="264"/>
            <p14:sldId id="265"/>
          </p14:sldIdLst>
        </p14:section>
        <p14:section name="바뀐 점" id="{8ECAE54B-FF16-DF14-17F9-38A60038E386}">
          <p14:sldIdLst>
            <p14:sldId id="266"/>
          </p14:sldIdLst>
        </p14:section>
        <p14:section name="한계" id="{8FCC9C88-39CA-D298-7513-A36C0BE0A662}">
          <p14:sldIdLst>
            <p14:sldId id="267"/>
          </p14:sldIdLst>
        </p14:section>
        <p14:section name="구현할 것" id="{9E384BA3-3368-789C-9D91-3FC915010F8B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0"/>
    <p:restoredTop sz="79564"/>
  </p:normalViewPr>
  <p:slideViewPr>
    <p:cSldViewPr snapToGrid="0" snapToObjects="1">
      <p:cViewPr varScale="1">
        <p:scale>
          <a:sx n="156" d="100"/>
          <a:sy n="156" d="100"/>
        </p:scale>
        <p:origin x="14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78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센서 값을 1초에 62번 읽음.(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DAPHNet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파킨슨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환자 데이터의 측정 속도)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32걸음 걸었을 때 32걸음을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.(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환자 데이터도 그렇게 구성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(가속도 단위): 중력을 1g라 보고, 흔들림 0.14g는 중력의 14%정도 흔들렸다.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Hz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1초에 몇 번 흔들렸는지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걸음 규칙성: 4초 안에서 같은 모양의 흔들림이 되풀이 되는 정도. 1에 가까울 수록 고르게 걷는 거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Freeze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Index,동결지수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떨림의 세기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(3~8Hz)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걸음 리듬의 세기로 나눈 비율. 1.5이상 떨림이면 걸음 리듬보다 1.5배 세다는 뜻 -&gt; 동결로 판정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초에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3~8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 떨린다는 연구를 토대로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ko-KR" altLang="ko-KR" dirty="0"/>
            </a:br>
            <a:br>
              <a:rPr lang="ko-KR" altLang="ko-KR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(가속도 단위): 중력을 1g라 보고, 흔들림 0.14g는 중력의 14%정도 흔들렸다.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Hz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1초에 몇 번 흔들렸는지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걸음 규칙성: 4초 안에서 같은 모양의 흔들림이 되풀이 되는 정도. 1에 가까울 수록 고르게 걷는 거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Freeze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Index,동결지수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떨림의 세기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(3~8Hz)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걸음 리듬의 세기로 나눈 비율. 1.5이상 떨림이면 걸음 리듬보다 1.5배 세다는 뜻 -&gt; 동결로 판정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초에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3~8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 떨린다는 연구를 토대로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ko-KR" altLang="ko-KR" dirty="0"/>
            </a:br>
            <a:br>
              <a:rPr lang="ko-KR" altLang="ko-KR" dirty="0"/>
            </a:br>
            <a:endParaRPr lang="en-US" altLang="ko-K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30936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1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" y="1106424"/>
            <a:ext cx="493776" cy="3200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630936" y="402336"/>
            <a:ext cx="64008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8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8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95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1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video" Target="../media/media4.mp4"/><Relationship Id="rId13" Type="http://schemas.openxmlformats.org/officeDocument/2006/relationships/image" Target="../media/image5.png"/><Relationship Id="rId3" Type="http://schemas.microsoft.com/office/2007/relationships/media" Target="../media/media2.mp4"/><Relationship Id="rId7" Type="http://schemas.microsoft.com/office/2007/relationships/media" Target="../media/media4.mp4"/><Relationship Id="rId12" Type="http://schemas.openxmlformats.org/officeDocument/2006/relationships/image" Target="../media/image4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3.png"/><Relationship Id="rId5" Type="http://schemas.microsoft.com/office/2007/relationships/media" Target="../media/media3.mp4"/><Relationship Id="rId10" Type="http://schemas.openxmlformats.org/officeDocument/2006/relationships/notesSlide" Target="../notesSlides/notesSlide5.xml"/><Relationship Id="rId4" Type="http://schemas.openxmlformats.org/officeDocument/2006/relationships/video" Target="../media/media2.mp4"/><Relationship Id="rId9" Type="http://schemas.openxmlformats.org/officeDocument/2006/relationships/slideLayout" Target="../slideLayouts/slideLayout3.xml"/><Relationship Id="rId1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microsoft.com/office/2007/relationships/media" Target="../media/media6.mp4"/><Relationship Id="rId7" Type="http://schemas.openxmlformats.org/officeDocument/2006/relationships/image" Target="../media/image8.png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3.xml"/><Relationship Id="rId4" Type="http://schemas.openxmlformats.org/officeDocument/2006/relationships/video" Target="../media/media6.mp4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30936" y="1691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100" b="1" dirty="0">
                <a:solidFill>
                  <a:schemeClr val="tx1"/>
                </a:solidFill>
              </a:rPr>
              <a:t>보행동결 자극 시스템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30936" y="2445697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b="1" dirty="0">
                <a:solidFill>
                  <a:schemeClr val="tx2"/>
                </a:solidFill>
              </a:rPr>
              <a:t>중간발표</a:t>
            </a:r>
            <a:endParaRPr lang="ko-KR" b="1" dirty="0"/>
          </a:p>
        </p:txBody>
      </p:sp>
      <p:sp>
        <p:nvSpPr>
          <p:cNvPr id="4" name="Text 2"/>
          <p:cNvSpPr txBox="1"/>
          <p:nvPr/>
        </p:nvSpPr>
        <p:spPr>
          <a:xfrm>
            <a:off x="630936" y="2848033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accent1"/>
                </a:solidFill>
              </a:rPr>
              <a:t>IMU 기반 보행 동결 검출 및 청각 자극 시스템</a:t>
            </a:r>
            <a:endParaRPr lang="ko-KR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30936" y="3085777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chemeClr val="accent6"/>
                </a:solidFill>
              </a:rPr>
              <a:t>32203482 이종하</a:t>
            </a:r>
            <a:endParaRPr lang="ko-KR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630936" y="402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chemeClr val="accent1"/>
                </a:solidFill>
              </a:rPr>
              <a:t>중간발표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chemeClr val="tx1"/>
                </a:solidFill>
              </a:rPr>
              <a:t>목차</a:t>
            </a:r>
            <a:endParaRPr lang="en-US" sz="1950" dirty="0"/>
          </a:p>
        </p:txBody>
      </p:sp>
      <p:sp>
        <p:nvSpPr>
          <p:cNvPr id="4" name="Text 2"/>
          <p:cNvSpPr txBox="1"/>
          <p:nvPr/>
        </p:nvSpPr>
        <p:spPr>
          <a:xfrm>
            <a:off x="630936" y="14630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01</a:t>
            </a:r>
            <a:endParaRPr lang="ko-KR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79576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프로젝트 개요</a:t>
            </a:r>
            <a:endParaRPr lang="ko-KR" sz="1250" dirty="0"/>
          </a:p>
        </p:txBody>
      </p:sp>
      <p:sp>
        <p:nvSpPr>
          <p:cNvPr id="6" name="Shape 4"/>
          <p:cNvSpPr/>
          <p:nvPr/>
        </p:nvSpPr>
        <p:spPr>
          <a:xfrm>
            <a:off x="630936" y="1938528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630936" y="21214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02</a:t>
            </a:r>
            <a:endParaRPr lang="ko-KR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79576" y="2121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시스템 구성</a:t>
            </a:r>
            <a:endParaRPr lang="ko-KR" sz="1250" dirty="0"/>
          </a:p>
        </p:txBody>
      </p:sp>
      <p:sp>
        <p:nvSpPr>
          <p:cNvPr id="9" name="Shape 7"/>
          <p:cNvSpPr/>
          <p:nvPr/>
        </p:nvSpPr>
        <p:spPr>
          <a:xfrm>
            <a:off x="630936" y="2596896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30936" y="27797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03</a:t>
            </a:r>
            <a:endParaRPr lang="ko-KR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79576" y="27797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데이터 수집</a:t>
            </a:r>
            <a:endParaRPr lang="ko-KR" sz="1250" dirty="0"/>
          </a:p>
        </p:txBody>
      </p:sp>
      <p:sp>
        <p:nvSpPr>
          <p:cNvPr id="12" name="Shape 10"/>
          <p:cNvSpPr/>
          <p:nvPr/>
        </p:nvSpPr>
        <p:spPr>
          <a:xfrm>
            <a:off x="630936" y="3255264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630936" y="34381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04</a:t>
            </a:r>
            <a:endParaRPr lang="ko-KR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79576" y="34381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보행 신호 분석</a:t>
            </a:r>
            <a:endParaRPr lang="ko-KR" sz="1250" dirty="0"/>
          </a:p>
        </p:txBody>
      </p:sp>
      <p:sp>
        <p:nvSpPr>
          <p:cNvPr id="15" name="Shape 13"/>
          <p:cNvSpPr/>
          <p:nvPr/>
        </p:nvSpPr>
        <p:spPr>
          <a:xfrm>
            <a:off x="630936" y="3913632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4709160" y="14630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05</a:t>
            </a:r>
            <a:endParaRPr lang="ko-KR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동결 판정</a:t>
            </a:r>
            <a:endParaRPr lang="ko-KR" sz="1250" dirty="0"/>
          </a:p>
        </p:txBody>
      </p:sp>
      <p:sp>
        <p:nvSpPr>
          <p:cNvPr id="18" name="Shape 16"/>
          <p:cNvSpPr/>
          <p:nvPr/>
        </p:nvSpPr>
        <p:spPr>
          <a:xfrm>
            <a:off x="4709160" y="1938528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709160" y="21214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06</a:t>
            </a:r>
            <a:endParaRPr lang="ko-KR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2121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설계 변경 사항</a:t>
            </a:r>
            <a:endParaRPr lang="ko-KR" sz="1250" dirty="0"/>
          </a:p>
        </p:txBody>
      </p:sp>
      <p:sp>
        <p:nvSpPr>
          <p:cNvPr id="21" name="Shape 19"/>
          <p:cNvSpPr/>
          <p:nvPr/>
        </p:nvSpPr>
        <p:spPr>
          <a:xfrm>
            <a:off x="4709160" y="2596896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4709160" y="27797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07</a:t>
            </a:r>
            <a:endParaRPr lang="ko-KR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257800" y="27797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/>
              <a:t>향후 계획</a:t>
            </a:r>
            <a:endParaRPr lang="ko-KR" sz="1250" dirty="0"/>
          </a:p>
        </p:txBody>
      </p:sp>
      <p:sp>
        <p:nvSpPr>
          <p:cNvPr id="24" name="Shape 22"/>
          <p:cNvSpPr/>
          <p:nvPr/>
        </p:nvSpPr>
        <p:spPr>
          <a:xfrm>
            <a:off x="4709160" y="3255264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/>
              <a:t>프로젝트 개요</a:t>
            </a:r>
            <a:endParaRPr lang="en-US" sz="1950" dirty="0"/>
          </a:p>
        </p:txBody>
      </p:sp>
      <p:sp>
        <p:nvSpPr>
          <p:cNvPr id="4" name="Text 2"/>
          <p:cNvSpPr txBox="1"/>
          <p:nvPr/>
        </p:nvSpPr>
        <p:spPr>
          <a:xfrm>
            <a:off x="630936" y="1371600"/>
            <a:ext cx="7882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accent1"/>
                </a:solidFill>
              </a:rPr>
              <a:t>문제  </a:t>
            </a:r>
            <a:r>
              <a:rPr lang="ko-KR" altLang="en-US" sz="1100" dirty="0">
                <a:solidFill>
                  <a:schemeClr val="tx1"/>
                </a:solidFill>
              </a:rPr>
              <a:t>파킨슨 환자는 걷다가 갑자기 발이 바닥에 붙는 현상이 일어난다 (보행 동결)</a:t>
            </a:r>
            <a:endParaRPr lang="ko-KR" sz="1100" dirty="0"/>
          </a:p>
        </p:txBody>
      </p:sp>
      <p:sp>
        <p:nvSpPr>
          <p:cNvPr id="5" name="Shape 3"/>
          <p:cNvSpPr/>
          <p:nvPr/>
        </p:nvSpPr>
        <p:spPr>
          <a:xfrm>
            <a:off x="630936" y="1874520"/>
            <a:ext cx="2322576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813816" y="20208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accent1"/>
                </a:solidFill>
              </a:rPr>
              <a:t>1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13816" y="22768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chemeClr val="tx1"/>
                </a:solidFill>
              </a:rPr>
              <a:t>걸음 측정</a:t>
            </a:r>
            <a:endParaRPr lang="ko-KR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2532888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dirty="0">
                <a:solidFill>
                  <a:schemeClr val="tx2"/>
                </a:solidFill>
              </a:rPr>
              <a:t>허리에 찬 가속도 센서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3044952" y="2354580"/>
            <a:ext cx="27432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410712" y="1874520"/>
            <a:ext cx="2322576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3593592" y="20208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accent1"/>
                </a:solidFill>
              </a:rPr>
              <a:t>2</a:t>
            </a:r>
            <a:endParaRPr lang="ko-KR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22768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chemeClr val="tx1"/>
                </a:solidFill>
              </a:rPr>
              <a:t>동결 감지</a:t>
            </a:r>
            <a:endParaRPr lang="ko-KR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2532888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dirty="0">
                <a:solidFill>
                  <a:schemeClr val="tx2"/>
                </a:solidFill>
              </a:rPr>
              <a:t>발이 안 떨어지는 순간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5824728" y="2354580"/>
            <a:ext cx="27432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190488" y="1874520"/>
            <a:ext cx="2322576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6373368" y="20208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accent1"/>
                </a:solidFill>
              </a:rPr>
              <a:t>3</a:t>
            </a:r>
            <a:endParaRPr lang="ko-KR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73368" y="22768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chemeClr val="tx1"/>
                </a:solidFill>
              </a:rPr>
              <a:t>메트로놈 재생</a:t>
            </a:r>
            <a:endParaRPr lang="ko-KR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73368" y="2532888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dirty="0">
                <a:solidFill>
                  <a:schemeClr val="tx2"/>
                </a:solidFill>
              </a:rPr>
              <a:t>직전 걸음 빠르기에 맞춤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658368" y="3655360"/>
            <a:ext cx="50292" cy="502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813816" y="3609640"/>
            <a:ext cx="7699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tx2"/>
                </a:solidFill>
              </a:rPr>
              <a:t>계속 울리면 귀가 익숙해져 반응이 줄어듦, 그래서 동결일 때만 울림</a:t>
            </a:r>
            <a:endParaRPr lang="ko-KR" sz="950" dirty="0"/>
          </a:p>
        </p:txBody>
      </p:sp>
      <p:sp>
        <p:nvSpPr>
          <p:cNvPr id="21" name="Shape 19"/>
          <p:cNvSpPr/>
          <p:nvPr/>
        </p:nvSpPr>
        <p:spPr>
          <a:xfrm>
            <a:off x="658368" y="3984544"/>
            <a:ext cx="50292" cy="502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813816" y="3938824"/>
            <a:ext cx="7699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tx2"/>
                </a:solidFill>
              </a:rPr>
              <a:t>다시 걸으면 소리 멈춤</a:t>
            </a:r>
            <a:endParaRPr lang="ko-KR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DEA82029-51CE-98F1-A51D-77822E575910}"/>
              </a:ext>
            </a:extLst>
          </p:cNvPr>
          <p:cNvSpPr txBox="1"/>
          <p:nvPr/>
        </p:nvSpPr>
        <p:spPr>
          <a:xfrm>
            <a:off x="628378" y="3331931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chemeClr val="tx1"/>
                </a:solidFill>
              </a:rPr>
              <a:t>고려할 점</a:t>
            </a:r>
            <a:endParaRPr lang="ko-KR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시스템 구성</a:t>
            </a:r>
            <a:r>
              <a:rPr lang="en-US" altLang="ko-KR" sz="1950" b="1" dirty="0">
                <a:solidFill>
                  <a:schemeClr val="tx1"/>
                </a:solidFill>
              </a:rPr>
              <a:t>(</a:t>
            </a:r>
            <a:r>
              <a:rPr lang="en-US" sz="1950" b="1" dirty="0" err="1">
                <a:solidFill>
                  <a:schemeClr val="tx1"/>
                </a:solidFill>
              </a:rPr>
              <a:t>회로</a:t>
            </a:r>
            <a:r>
              <a:rPr lang="en-US" sz="1950" b="1" dirty="0">
                <a:solidFill>
                  <a:schemeClr val="tx1"/>
                </a:solidFill>
              </a:rPr>
              <a:t> </a:t>
            </a:r>
            <a:r>
              <a:rPr lang="en-US" sz="1950" b="1" dirty="0" err="1">
                <a:solidFill>
                  <a:schemeClr val="tx1"/>
                </a:solidFill>
              </a:rPr>
              <a:t>연결</a:t>
            </a:r>
            <a:r>
              <a:rPr lang="en-US" altLang="ko-KR" sz="1950" b="1" dirty="0">
                <a:solidFill>
                  <a:schemeClr val="tx1"/>
                </a:solidFill>
              </a:rPr>
              <a:t>)</a:t>
            </a:r>
            <a:endParaRPr lang="en-US" sz="1950" dirty="0"/>
          </a:p>
        </p:txBody>
      </p:sp>
      <p:pic>
        <p:nvPicPr>
          <p:cNvPr id="4" name="Image 0" descr="브레드보드와 ESP32 확장보드 실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298448"/>
            <a:ext cx="2046373" cy="3200400"/>
          </a:xfrm>
          <a:prstGeom prst="rect">
            <a:avLst/>
          </a:prstGeom>
        </p:spPr>
      </p:pic>
      <p:pic>
        <p:nvPicPr>
          <p:cNvPr id="5" name="Image 1" descr="ESP32 확장보드와 MPU-6050, 수동 부저, 진동 모터, 택트스위치 연결도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1627" y="1574776"/>
            <a:ext cx="5972525" cy="24306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시스템 구성</a:t>
            </a:r>
            <a:r>
              <a:rPr lang="en-US" altLang="ko-KR" sz="1950" b="1" dirty="0">
                <a:solidFill>
                  <a:schemeClr val="tx1"/>
                </a:solidFill>
              </a:rPr>
              <a:t>(</a:t>
            </a:r>
            <a:r>
              <a:rPr lang="en-US" sz="1950" b="1" dirty="0" err="1">
                <a:solidFill>
                  <a:schemeClr val="tx1"/>
                </a:solidFill>
              </a:rPr>
              <a:t>기능</a:t>
            </a:r>
            <a:r>
              <a:rPr lang="en-US" sz="1950" b="1" dirty="0">
                <a:solidFill>
                  <a:schemeClr val="tx1"/>
                </a:solidFill>
              </a:rPr>
              <a:t> </a:t>
            </a:r>
            <a:r>
              <a:rPr lang="en-US" sz="1950" b="1" dirty="0" err="1">
                <a:solidFill>
                  <a:schemeClr val="tx1"/>
                </a:solidFill>
              </a:rPr>
              <a:t>테스트</a:t>
            </a:r>
            <a:r>
              <a:rPr lang="en-US" altLang="ko-KR" sz="1950" b="1" dirty="0">
                <a:solidFill>
                  <a:schemeClr val="tx1"/>
                </a:solidFill>
              </a:rPr>
              <a:t>)</a:t>
            </a:r>
            <a:endParaRPr lang="en-US" sz="19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321307" y="1067629"/>
            <a:ext cx="3064275" cy="19019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90804" y="2751991"/>
            <a:ext cx="4305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tx1"/>
                </a:solidFill>
              </a:rPr>
              <a:t>버튼</a:t>
            </a:r>
            <a:endParaRPr lang="ko-KR" sz="1100" dirty="0"/>
          </a:p>
        </p:txBody>
      </p:sp>
      <p:pic>
        <p:nvPicPr>
          <p:cNvPr id="10" name="Media 1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4576859" y="1067630"/>
            <a:ext cx="3064275" cy="19019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86651" y="2859865"/>
            <a:ext cx="3766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tx1"/>
                </a:solidFill>
              </a:rPr>
              <a:t>부저</a:t>
            </a:r>
            <a:endParaRPr lang="ko-KR" sz="1100" dirty="0"/>
          </a:p>
        </p:txBody>
      </p:sp>
      <p:pic>
        <p:nvPicPr>
          <p:cNvPr id="16" name="Media 2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1321306" y="3115897"/>
            <a:ext cx="3064275" cy="19019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0804" y="3115897"/>
            <a:ext cx="4305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tx1"/>
                </a:solidFill>
              </a:rPr>
              <a:t>진동</a:t>
            </a:r>
            <a:endParaRPr lang="ko-KR" sz="1100" dirty="0"/>
          </a:p>
        </p:txBody>
      </p:sp>
      <p:pic>
        <p:nvPicPr>
          <p:cNvPr id="22" name="Media 3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4576859" y="3115897"/>
            <a:ext cx="3064275" cy="19019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686651" y="3115897"/>
            <a:ext cx="7475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tx1"/>
                </a:solidFill>
              </a:rPr>
              <a:t>걸음</a:t>
            </a:r>
            <a:endParaRPr lang="ko-KR" sz="11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/>
              <a:t>시스템 구성</a:t>
            </a:r>
            <a:r>
              <a:rPr lang="en-US" altLang="ko-KR" sz="1950" b="1" dirty="0">
                <a:solidFill>
                  <a:schemeClr val="tx1"/>
                </a:solidFill>
              </a:rPr>
              <a:t>(</a:t>
            </a:r>
            <a:r>
              <a:rPr lang="en-US" sz="1950" b="1" dirty="0" err="1">
                <a:solidFill>
                  <a:schemeClr val="tx1"/>
                </a:solidFill>
              </a:rPr>
              <a:t>착용과</a:t>
            </a:r>
            <a:r>
              <a:rPr lang="en-US" sz="1950" b="1" dirty="0">
                <a:solidFill>
                  <a:schemeClr val="tx1"/>
                </a:solidFill>
              </a:rPr>
              <a:t> </a:t>
            </a:r>
            <a:r>
              <a:rPr lang="en-US" sz="1950" b="1" dirty="0" err="1">
                <a:solidFill>
                  <a:schemeClr val="tx1"/>
                </a:solidFill>
              </a:rPr>
              <a:t>기록</a:t>
            </a:r>
            <a:r>
              <a:rPr lang="en-US" sz="1950" b="1" dirty="0">
                <a:solidFill>
                  <a:schemeClr val="tx1"/>
                </a:solidFill>
              </a:rPr>
              <a:t> </a:t>
            </a:r>
            <a:r>
              <a:rPr lang="en-US" sz="1950" b="1" dirty="0" err="1">
                <a:solidFill>
                  <a:schemeClr val="tx1"/>
                </a:solidFill>
              </a:rPr>
              <a:t>환경</a:t>
            </a:r>
            <a:r>
              <a:rPr lang="en-US" sz="1950" b="1" dirty="0">
                <a:solidFill>
                  <a:schemeClr val="tx1"/>
                </a:solidFill>
              </a:rPr>
              <a:t> </a:t>
            </a:r>
            <a:r>
              <a:rPr lang="ko-KR" altLang="en-US" sz="1950" b="1" dirty="0">
                <a:solidFill>
                  <a:schemeClr val="tx1"/>
                </a:solidFill>
              </a:rPr>
              <a:t>가정</a:t>
            </a:r>
            <a:r>
              <a:rPr lang="en-US" altLang="ko-KR" sz="1950" b="1" dirty="0">
                <a:solidFill>
                  <a:schemeClr val="tx1"/>
                </a:solidFill>
              </a:rPr>
              <a:t>)</a:t>
            </a:r>
            <a:endParaRPr lang="en-US" sz="1950" dirty="0"/>
          </a:p>
        </p:txBody>
      </p:sp>
      <p:pic>
        <p:nvPicPr>
          <p:cNvPr id="4" name="Image 0" descr="허리 뒤쪽에 고정한 기기와 USB로 연결한 맥북 기록 화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371600"/>
            <a:ext cx="4297680" cy="2664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0" y="150876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62.0~62.4 Hz</a:t>
            </a:r>
            <a:endParaRPr lang="ko-KR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0" y="1911096"/>
            <a:ext cx="3026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dirty="0">
                <a:solidFill>
                  <a:schemeClr val="accent6"/>
                </a:solidFill>
              </a:rPr>
              <a:t>샘플레이트 (설계값 62.5 Hz)</a:t>
            </a:r>
            <a:endParaRPr lang="ko-KR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23774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32 / 32</a:t>
            </a:r>
            <a:endParaRPr lang="ko-KR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2779776"/>
            <a:ext cx="3026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dirty="0">
                <a:solidFill>
                  <a:schemeClr val="accent6"/>
                </a:solidFill>
              </a:rPr>
              <a:t>걸음 세기</a:t>
            </a:r>
            <a:endParaRPr lang="ko-KR" sz="1050" dirty="0"/>
          </a:p>
        </p:txBody>
      </p:sp>
      <p:sp>
        <p:nvSpPr>
          <p:cNvPr id="9" name="Shape 6"/>
          <p:cNvSpPr/>
          <p:nvPr/>
        </p:nvSpPr>
        <p:spPr>
          <a:xfrm>
            <a:off x="5486400" y="3246120"/>
            <a:ext cx="302666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000" dirty="0"/>
              <a:t>데이터 수집</a:t>
            </a:r>
            <a:endParaRPr lang="en-US" sz="19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1208" y="1649184"/>
            <a:ext cx="4143632" cy="235947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936" y="4158769"/>
            <a:ext cx="3803904" cy="201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걷기</a:t>
            </a:r>
            <a:endParaRPr lang="ko-KR" sz="2000" dirty="0"/>
          </a:p>
        </p:txBody>
      </p:sp>
      <p:pic>
        <p:nvPicPr>
          <p:cNvPr id="6" name="Media 1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709160" y="1649185"/>
            <a:ext cx="4143630" cy="235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09160" y="4158769"/>
            <a:ext cx="3803904" cy="201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동결 재현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보행 신호 분석</a:t>
            </a:r>
            <a:endParaRPr lang="en-US" sz="1950" dirty="0"/>
          </a:p>
        </p:txBody>
      </p:sp>
      <p:sp>
        <p:nvSpPr>
          <p:cNvPr id="5" name="Text 3"/>
          <p:cNvSpPr txBox="1"/>
          <p:nvPr/>
        </p:nvSpPr>
        <p:spPr>
          <a:xfrm>
            <a:off x="634201" y="1463040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2"/>
                </a:solidFill>
              </a:rPr>
              <a:t>흔들림 크기: 걷기 0.14~0.21 g, 동결 재현 0.08~0.24 g</a:t>
            </a:r>
            <a:endParaRPr lang="ko-KR" sz="1050" b="1" dirty="0"/>
          </a:p>
        </p:txBody>
      </p:sp>
      <p:sp>
        <p:nvSpPr>
          <p:cNvPr id="7" name="Text 5"/>
          <p:cNvSpPr txBox="1"/>
          <p:nvPr/>
        </p:nvSpPr>
        <p:spPr>
          <a:xfrm>
            <a:off x="634201" y="188366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2"/>
                </a:solidFill>
              </a:rPr>
              <a:t>걸음 규칙성: 걷기 0.43~0.68, 동결 재현 0.09~0.37</a:t>
            </a:r>
            <a:endParaRPr lang="ko-KR" sz="1050" b="1" dirty="0"/>
          </a:p>
        </p:txBody>
      </p:sp>
      <p:sp>
        <p:nvSpPr>
          <p:cNvPr id="8" name="Shape 6"/>
          <p:cNvSpPr/>
          <p:nvPr/>
        </p:nvSpPr>
        <p:spPr>
          <a:xfrm>
            <a:off x="658368" y="3109291"/>
            <a:ext cx="50292" cy="502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813816" y="3063571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tx2"/>
                </a:solidFill>
              </a:rPr>
              <a:t>3~8 Hz 떨림(FI</a:t>
            </a:r>
            <a:r>
              <a:rPr lang="en-US" altLang="ko-KR" sz="950" dirty="0">
                <a:solidFill>
                  <a:schemeClr val="tx2"/>
                </a:solidFill>
              </a:rPr>
              <a:t>)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58368" y="3529915"/>
            <a:ext cx="50292" cy="502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813816" y="3484195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tx2"/>
                </a:solidFill>
              </a:rPr>
              <a:t>서 있는 동안에도 걸음이 </a:t>
            </a:r>
            <a:r>
              <a:rPr lang="ko-KR" altLang="en-US" sz="950" dirty="0" err="1">
                <a:solidFill>
                  <a:schemeClr val="tx2"/>
                </a:solidFill>
              </a:rPr>
              <a:t>세어짐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606769" y="2210235"/>
            <a:ext cx="3429000" cy="54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71361" y="2210235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tx1"/>
                </a:solidFill>
              </a:rPr>
              <a:t>걸음 규칙성  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ko-KR" sz="1100" dirty="0">
                <a:solidFill>
                  <a:schemeClr val="tx2"/>
                </a:solidFill>
              </a:rPr>
              <a:t>4</a:t>
            </a:r>
            <a:r>
              <a:rPr lang="ko-KR" altLang="en-US" sz="1100" dirty="0" err="1">
                <a:solidFill>
                  <a:schemeClr val="tx2"/>
                </a:solidFill>
              </a:rPr>
              <a:t>초동안</a:t>
            </a:r>
            <a:r>
              <a:rPr lang="ko-KR" altLang="en-US" sz="1100" dirty="0">
                <a:solidFill>
                  <a:schemeClr val="tx2"/>
                </a:solidFill>
              </a:rPr>
              <a:t> 같은 모양의 걸음이 반복되는 정도 (0~1)</a:t>
            </a:r>
            <a:endParaRPr lang="ko-KR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371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b="1" dirty="0">
                <a:solidFill>
                  <a:schemeClr val="tx1"/>
                </a:solidFill>
              </a:rPr>
              <a:t>흔들림 크기 (g)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5486400" y="16184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5212080" y="23408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</a:t>
            </a:r>
            <a:endParaRPr lang="ko-KR" sz="650" dirty="0"/>
          </a:p>
        </p:txBody>
      </p:sp>
      <p:sp>
        <p:nvSpPr>
          <p:cNvPr id="17" name="Shape 15"/>
          <p:cNvSpPr/>
          <p:nvPr/>
        </p:nvSpPr>
        <p:spPr>
          <a:xfrm>
            <a:off x="6461760" y="16184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6187440" y="23408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0.1</a:t>
            </a:r>
            <a:endParaRPr lang="ko-KR" sz="650" dirty="0"/>
          </a:p>
        </p:txBody>
      </p:sp>
      <p:sp>
        <p:nvSpPr>
          <p:cNvPr id="19" name="Shape 17"/>
          <p:cNvSpPr/>
          <p:nvPr/>
        </p:nvSpPr>
        <p:spPr>
          <a:xfrm>
            <a:off x="7437120" y="16184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7162800" y="23408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0.2</a:t>
            </a:r>
            <a:endParaRPr lang="ko-KR" sz="650" dirty="0"/>
          </a:p>
        </p:txBody>
      </p:sp>
      <p:sp>
        <p:nvSpPr>
          <p:cNvPr id="21" name="Shape 19"/>
          <p:cNvSpPr/>
          <p:nvPr/>
        </p:nvSpPr>
        <p:spPr>
          <a:xfrm>
            <a:off x="8412480" y="16184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8138160" y="23408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0.3</a:t>
            </a:r>
            <a:endParaRPr lang="ko-KR" sz="650" dirty="0"/>
          </a:p>
        </p:txBody>
      </p:sp>
      <p:sp>
        <p:nvSpPr>
          <p:cNvPr id="23" name="Shape 21"/>
          <p:cNvSpPr/>
          <p:nvPr/>
        </p:nvSpPr>
        <p:spPr>
          <a:xfrm>
            <a:off x="5486400" y="2304288"/>
            <a:ext cx="2926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4343400" y="164592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b="1" dirty="0">
                <a:solidFill>
                  <a:schemeClr val="tx1"/>
                </a:solidFill>
              </a:rPr>
              <a:t>걷기</a:t>
            </a:r>
            <a:endParaRPr lang="ko-KR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343400" y="1801368"/>
            <a:ext cx="10515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700" dirty="0">
                <a:solidFill>
                  <a:schemeClr val="accent6"/>
                </a:solidFill>
              </a:rPr>
              <a:t>0.14~0.21</a:t>
            </a:r>
            <a:endParaRPr lang="ko-KR" sz="700" dirty="0"/>
          </a:p>
        </p:txBody>
      </p:sp>
      <p:sp>
        <p:nvSpPr>
          <p:cNvPr id="26" name="Shape 24"/>
          <p:cNvSpPr/>
          <p:nvPr/>
        </p:nvSpPr>
        <p:spPr>
          <a:xfrm>
            <a:off x="6851904" y="1728216"/>
            <a:ext cx="682752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343400" y="197510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b="1" dirty="0">
                <a:solidFill>
                  <a:schemeClr val="tx1"/>
                </a:solidFill>
              </a:rPr>
              <a:t>동결 재현</a:t>
            </a:r>
            <a:endParaRPr lang="ko-KR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343400" y="2130552"/>
            <a:ext cx="10515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700" dirty="0">
                <a:solidFill>
                  <a:schemeClr val="accent6"/>
                </a:solidFill>
              </a:rPr>
              <a:t>0.08~0.24</a:t>
            </a:r>
            <a:endParaRPr lang="ko-KR" sz="700" dirty="0"/>
          </a:p>
        </p:txBody>
      </p:sp>
      <p:sp>
        <p:nvSpPr>
          <p:cNvPr id="29" name="Shape 27"/>
          <p:cNvSpPr/>
          <p:nvPr/>
        </p:nvSpPr>
        <p:spPr>
          <a:xfrm>
            <a:off x="6266688" y="2057400"/>
            <a:ext cx="1560576" cy="1097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4343400" y="2743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b="1" dirty="0">
                <a:solidFill>
                  <a:schemeClr val="tx1"/>
                </a:solidFill>
              </a:rPr>
              <a:t>걸음 규칙성 (0~1)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5486400" y="29900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5212080" y="37124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</a:t>
            </a:r>
            <a:endParaRPr lang="ko-KR" sz="650" dirty="0"/>
          </a:p>
        </p:txBody>
      </p:sp>
      <p:sp>
        <p:nvSpPr>
          <p:cNvPr id="33" name="Shape 31"/>
          <p:cNvSpPr/>
          <p:nvPr/>
        </p:nvSpPr>
        <p:spPr>
          <a:xfrm>
            <a:off x="6949440" y="29900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6675120" y="37124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0.5</a:t>
            </a:r>
            <a:endParaRPr lang="ko-KR" sz="650" dirty="0"/>
          </a:p>
        </p:txBody>
      </p:sp>
      <p:sp>
        <p:nvSpPr>
          <p:cNvPr id="35" name="Shape 33"/>
          <p:cNvSpPr/>
          <p:nvPr/>
        </p:nvSpPr>
        <p:spPr>
          <a:xfrm>
            <a:off x="8412480" y="29900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8138160" y="37124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1</a:t>
            </a:r>
            <a:endParaRPr lang="ko-KR" sz="650" dirty="0"/>
          </a:p>
        </p:txBody>
      </p:sp>
      <p:sp>
        <p:nvSpPr>
          <p:cNvPr id="37" name="Shape 35"/>
          <p:cNvSpPr/>
          <p:nvPr/>
        </p:nvSpPr>
        <p:spPr>
          <a:xfrm>
            <a:off x="5486400" y="3675888"/>
            <a:ext cx="2926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4343400" y="301752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b="1" dirty="0">
                <a:solidFill>
                  <a:schemeClr val="tx1"/>
                </a:solidFill>
              </a:rPr>
              <a:t>걷기</a:t>
            </a:r>
            <a:endParaRPr lang="ko-KR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4343400" y="3172968"/>
            <a:ext cx="10515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700" dirty="0">
                <a:solidFill>
                  <a:schemeClr val="accent6"/>
                </a:solidFill>
              </a:rPr>
              <a:t>0.43~0.68</a:t>
            </a:r>
            <a:endParaRPr lang="ko-KR" sz="700" dirty="0"/>
          </a:p>
        </p:txBody>
      </p:sp>
      <p:sp>
        <p:nvSpPr>
          <p:cNvPr id="40" name="Shape 38"/>
          <p:cNvSpPr/>
          <p:nvPr/>
        </p:nvSpPr>
        <p:spPr>
          <a:xfrm>
            <a:off x="6744614" y="3099816"/>
            <a:ext cx="731520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4343400" y="334670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b="1" dirty="0">
                <a:solidFill>
                  <a:schemeClr val="tx1"/>
                </a:solidFill>
              </a:rPr>
              <a:t>동결 재현</a:t>
            </a:r>
            <a:endParaRPr lang="ko-KR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4343400" y="3502152"/>
            <a:ext cx="10515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700" dirty="0">
                <a:solidFill>
                  <a:schemeClr val="accent6"/>
                </a:solidFill>
              </a:rPr>
              <a:t>0.09~0.37</a:t>
            </a:r>
            <a:endParaRPr lang="ko-KR" sz="700" dirty="0"/>
          </a:p>
        </p:txBody>
      </p:sp>
      <p:sp>
        <p:nvSpPr>
          <p:cNvPr id="43" name="Shape 41"/>
          <p:cNvSpPr/>
          <p:nvPr/>
        </p:nvSpPr>
        <p:spPr>
          <a:xfrm>
            <a:off x="5749747" y="3429000"/>
            <a:ext cx="819302" cy="1097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686093" y="2944368"/>
            <a:ext cx="0" cy="73152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320333" y="2816352"/>
            <a:ext cx="731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tx1"/>
                </a:solidFill>
              </a:rPr>
              <a:t>기준 0.41</a:t>
            </a:r>
            <a:endParaRPr lang="ko-KR" sz="65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동결 판정</a:t>
            </a:r>
            <a:r>
              <a:rPr lang="en-US" altLang="ko-KR" sz="1950" b="1" dirty="0">
                <a:solidFill>
                  <a:schemeClr val="tx1"/>
                </a:solidFill>
              </a:rPr>
              <a:t>(</a:t>
            </a:r>
            <a:r>
              <a:rPr lang="ko-KR" altLang="en-US" sz="1950" b="1" dirty="0">
                <a:solidFill>
                  <a:schemeClr val="tx1"/>
                </a:solidFill>
              </a:rPr>
              <a:t>테스트</a:t>
            </a:r>
            <a:r>
              <a:rPr lang="en-US" altLang="ko-KR" sz="1950" b="1" dirty="0">
                <a:solidFill>
                  <a:schemeClr val="tx1"/>
                </a:solidFill>
              </a:rPr>
              <a:t>)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630936" y="1463040"/>
            <a:ext cx="1600200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30936" y="1463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chemeClr val="tx1"/>
                </a:solidFill>
              </a:rPr>
              <a:t>움직임 세기 ≥ 0.005</a:t>
            </a:r>
            <a:endParaRPr lang="ko-KR" sz="950" dirty="0"/>
          </a:p>
        </p:txBody>
      </p:sp>
      <p:sp>
        <p:nvSpPr>
          <p:cNvPr id="6" name="Text 4"/>
          <p:cNvSpPr txBox="1"/>
          <p:nvPr/>
        </p:nvSpPr>
        <p:spPr>
          <a:xfrm>
            <a:off x="2231136" y="14630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ko-KR" sz="850" b="1" dirty="0">
                <a:solidFill>
                  <a:schemeClr val="accent1"/>
                </a:solidFill>
              </a:rPr>
              <a:t>AND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34056" y="1371600"/>
            <a:ext cx="377647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CCCCC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825496" y="1463040"/>
            <a:ext cx="1572768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2825496" y="146304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chemeClr val="tx1"/>
                </a:solidFill>
              </a:rPr>
              <a:t>걸음 규칙성 &lt; 0.41</a:t>
            </a:r>
            <a:endParaRPr lang="ko-KR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398264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ko-KR" sz="850" b="1" dirty="0">
                <a:solidFill>
                  <a:schemeClr val="accent1"/>
                </a:solidFill>
              </a:rPr>
              <a:t>OR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855464" y="1463040"/>
            <a:ext cx="1563624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4855464" y="1463040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chemeClr val="tx1"/>
                </a:solidFill>
              </a:rPr>
              <a:t>FI ≥ 1.5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565392" y="1691640"/>
            <a:ext cx="301752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922008" y="1463040"/>
            <a:ext cx="1591056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922008" y="146304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chemeClr val="bg1"/>
                </a:solidFill>
              </a:rPr>
              <a:t>2회 연속이면 작동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658368" y="2286000"/>
            <a:ext cx="50292" cy="502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813816" y="2240280"/>
            <a:ext cx="7699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tx2"/>
                </a:solidFill>
              </a:rPr>
              <a:t>FI를 같이 보는 이유: 일정한 박자로 떨면 규칙성이 높게 나옴 </a:t>
            </a:r>
            <a:r>
              <a:rPr lang="en-US" altLang="ko-KR" sz="950" dirty="0">
                <a:solidFill>
                  <a:schemeClr val="tx2"/>
                </a:solidFill>
              </a:rPr>
              <a:t>+</a:t>
            </a:r>
            <a:r>
              <a:rPr lang="ko-KR" altLang="en-US" sz="950" dirty="0">
                <a:solidFill>
                  <a:schemeClr val="tx2"/>
                </a:solidFill>
              </a:rPr>
              <a:t> 선행 연구의 벤치마킹</a:t>
            </a:r>
            <a:endParaRPr lang="ko-KR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499064"/>
              </p:ext>
            </p:extLst>
          </p:nvPr>
        </p:nvGraphicFramePr>
        <p:xfrm>
          <a:off x="630936" y="2651760"/>
          <a:ext cx="7882128" cy="11338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판정 방식</a:t>
                      </a:r>
                      <a:endParaRPr lang="en-US" sz="8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 err="1">
                          <a:solidFill>
                            <a:schemeClr val="accent6"/>
                          </a:solidFill>
                        </a:rPr>
                        <a:t>잡힌</a:t>
                      </a: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 </a:t>
                      </a:r>
                      <a:r>
                        <a:rPr lang="en-US" sz="800" dirty="0" err="1">
                          <a:solidFill>
                            <a:schemeClr val="accent6"/>
                          </a:solidFill>
                        </a:rPr>
                        <a:t>동결</a:t>
                      </a: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 </a:t>
                      </a:r>
                      <a:r>
                        <a:rPr lang="en-US" sz="800" dirty="0" err="1">
                          <a:solidFill>
                            <a:schemeClr val="accent6"/>
                          </a:solidFill>
                        </a:rPr>
                        <a:t>재현</a:t>
                      </a:r>
                      <a:endParaRPr lang="en-US" sz="8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판정까지</a:t>
                      </a:r>
                      <a:endParaRPr lang="en-US" sz="8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걷기 중 오작동</a:t>
                      </a:r>
                      <a:endParaRPr lang="en-US" sz="8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FI만 (아이디어 발표)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4 / 7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4.6초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0회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규칙성 + FI (현재)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7 / 7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3.0초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0회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동결 판정</a:t>
            </a:r>
            <a:r>
              <a:rPr lang="en-US" altLang="ko-KR" sz="1950" b="1" dirty="0">
                <a:solidFill>
                  <a:schemeClr val="tx1"/>
                </a:solidFill>
              </a:rPr>
              <a:t>(</a:t>
            </a:r>
            <a:r>
              <a:rPr lang="ko-KR" altLang="en-US" sz="1950" b="1" dirty="0">
                <a:solidFill>
                  <a:schemeClr val="tx1"/>
                </a:solidFill>
              </a:rPr>
              <a:t>실시간 구현</a:t>
            </a:r>
            <a:r>
              <a:rPr lang="en-US" altLang="ko-KR" sz="1950" b="1" dirty="0">
                <a:solidFill>
                  <a:schemeClr val="tx1"/>
                </a:solidFill>
              </a:rPr>
              <a:t>)</a:t>
            </a:r>
            <a:endParaRPr lang="en-US" sz="1950" dirty="0"/>
          </a:p>
        </p:txBody>
      </p:sp>
      <p:pic>
        <p:nvPicPr>
          <p:cNvPr id="5" name="Image 0" descr="멈춰 있음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0935" y="1737685"/>
            <a:ext cx="3759326" cy="1895421"/>
          </a:xfrm>
          <a:prstGeom prst="rect">
            <a:avLst/>
          </a:prstGeom>
        </p:spPr>
      </p:pic>
      <p:pic>
        <p:nvPicPr>
          <p:cNvPr id="7" name="Image 1" descr="걷는 중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3740" y="499654"/>
            <a:ext cx="3759324" cy="1895420"/>
          </a:xfrm>
          <a:prstGeom prst="rect">
            <a:avLst/>
          </a:prstGeom>
        </p:spPr>
      </p:pic>
      <p:pic>
        <p:nvPicPr>
          <p:cNvPr id="9" name="Image 2" descr="박자 주는 중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53740" y="2685396"/>
            <a:ext cx="3759324" cy="18954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설계 변경 사항</a:t>
            </a:r>
            <a:endParaRPr lang="en-US" sz="1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8940473"/>
              </p:ext>
            </p:extLst>
          </p:nvPr>
        </p:nvGraphicFramePr>
        <p:xfrm>
          <a:off x="630936" y="1417320"/>
          <a:ext cx="7882128" cy="2825496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47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chemeClr val="accent6"/>
                          </a:solidFill>
                        </a:rPr>
                        <a:t>항목</a:t>
                      </a:r>
                      <a:endParaRPr lang="en-US" sz="10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chemeClr val="accent6"/>
                          </a:solidFill>
                        </a:rPr>
                        <a:t>아이디어 발표</a:t>
                      </a:r>
                      <a:endParaRPr lang="en-US" sz="10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chemeClr val="accent6"/>
                          </a:solidFill>
                        </a:rPr>
                        <a:t>현재</a:t>
                      </a:r>
                      <a:endParaRPr lang="en-US" sz="10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chemeClr val="accent6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판정 기준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6"/>
                          </a:solidFill>
                        </a:rPr>
                        <a:t>FI만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규칙성 + FI + 움직임 세기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FI</a:t>
                      </a:r>
                      <a:r>
                        <a:rPr lang="ko-KR" altLang="en-US" sz="1000" dirty="0">
                          <a:solidFill>
                            <a:schemeClr val="tx2"/>
                          </a:solidFill>
                        </a:rPr>
                        <a:t>로 잡히지 않는 경우 존재</a:t>
                      </a:r>
                      <a:endParaRPr lang="en-US" sz="10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판정 시점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6"/>
                          </a:solidFill>
                        </a:rPr>
                        <a:t>발이 멈춘 뒤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걸음과 무관하게 계속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떠는 동안에도 걸음이 세어져 멈춤이 감지 안 됨</a:t>
                      </a:r>
                      <a:endParaRPr lang="en-US" sz="10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템포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6"/>
                          </a:solidFill>
                        </a:rPr>
                        <a:t>직전 케이던스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5초 전 케이던스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판정 무렵엔 떨림이 걸음으로 세어져 케이던스가 높게 나옴 (95~137, 평소 85~90)</a:t>
                      </a:r>
                      <a:endParaRPr lang="en-US" sz="10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끄는 시점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6"/>
                          </a:solidFill>
                        </a:rPr>
                        <a:t>다시 걸을 때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판정이 2회 연속 풀릴 때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떨림이 멈춘 뒤 2~3초 더 울림</a:t>
                      </a:r>
                      <a:endParaRPr lang="en-US" sz="10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050" b="1" dirty="0" err="1">
                          <a:solidFill>
                            <a:schemeClr val="tx1"/>
                          </a:solidFill>
                        </a:rPr>
                        <a:t>텍트</a:t>
                      </a:r>
                      <a:r>
                        <a:rPr lang="en-US" sz="1050" b="1" dirty="0" err="1">
                          <a:solidFill>
                            <a:schemeClr val="tx1"/>
                          </a:solidFill>
                        </a:rPr>
                        <a:t>스위치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050" dirty="0">
                          <a:solidFill>
                            <a:schemeClr val="accent6"/>
                          </a:solidFill>
                        </a:rPr>
                        <a:t>부가기능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050" b="1" dirty="0">
                          <a:solidFill>
                            <a:schemeClr val="tx1"/>
                          </a:solidFill>
                        </a:rPr>
                        <a:t>필수기능</a:t>
                      </a:r>
                      <a:endParaRPr lang="en-US" sz="10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 err="1">
                          <a:solidFill>
                            <a:schemeClr val="tx2"/>
                          </a:solidFill>
                        </a:rPr>
                        <a:t>동결</a:t>
                      </a: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en-US" sz="1000" dirty="0" err="1">
                          <a:solidFill>
                            <a:schemeClr val="tx2"/>
                          </a:solidFill>
                        </a:rPr>
                        <a:t>감지</a:t>
                      </a: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en-US" sz="1000" dirty="0" err="1">
                          <a:solidFill>
                            <a:schemeClr val="tx2"/>
                          </a:solidFill>
                        </a:rPr>
                        <a:t>오작동으로</a:t>
                      </a: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en-US" sz="1000" dirty="0" err="1">
                          <a:solidFill>
                            <a:schemeClr val="tx2"/>
                          </a:solidFill>
                        </a:rPr>
                        <a:t>인해</a:t>
                      </a:r>
                      <a:endParaRPr lang="en-US" sz="10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sz="900" b="0"/>
              <a:t>11</a:t>
            </a:fld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향후 계획</a:t>
            </a:r>
            <a:endParaRPr lang="en-US" sz="1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31" name="Shape 2">
            <a:extLst>
              <a:ext uri="{FF2B5EF4-FFF2-40B4-BE49-F238E27FC236}">
                <a16:creationId xmlns:a16="http://schemas.microsoft.com/office/drawing/2014/main" id="{DF11CFFC-ECCD-AB89-1002-C4C84204B6AF}"/>
              </a:ext>
            </a:extLst>
          </p:cNvPr>
          <p:cNvSpPr/>
          <p:nvPr/>
        </p:nvSpPr>
        <p:spPr>
          <a:xfrm>
            <a:off x="1030983" y="1748790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910F8A49-D540-4AB8-AAF0-2C669EC35DCC}"/>
              </a:ext>
            </a:extLst>
          </p:cNvPr>
          <p:cNvSpPr txBox="1"/>
          <p:nvPr/>
        </p:nvSpPr>
        <p:spPr>
          <a:xfrm>
            <a:off x="1213863" y="1931670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오작동 감소</a:t>
            </a:r>
            <a:endParaRPr lang="ko-KR" sz="1050" dirty="0"/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A264014A-472B-4335-603C-FA5C08936F47}"/>
              </a:ext>
            </a:extLst>
          </p:cNvPr>
          <p:cNvSpPr txBox="1"/>
          <p:nvPr/>
        </p:nvSpPr>
        <p:spPr>
          <a:xfrm>
            <a:off x="1213863" y="2205990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반복 테스트</a:t>
            </a:r>
            <a:endParaRPr lang="ko-KR" sz="850" dirty="0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0D9C8D8B-5B90-2B21-7D04-4BD5EDB0D33A}"/>
              </a:ext>
            </a:extLst>
          </p:cNvPr>
          <p:cNvSpPr/>
          <p:nvPr/>
        </p:nvSpPr>
        <p:spPr>
          <a:xfrm>
            <a:off x="1030983" y="2794472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ADCC37CA-6293-88D4-05C1-58A303E1B2A9}"/>
              </a:ext>
            </a:extLst>
          </p:cNvPr>
          <p:cNvSpPr txBox="1"/>
          <p:nvPr/>
        </p:nvSpPr>
        <p:spPr>
          <a:xfrm>
            <a:off x="1213863" y="2977352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실시간 판정 검증</a:t>
            </a:r>
            <a:endParaRPr lang="ko-KR" sz="105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C9999378-246D-D656-665F-ABF688DB2E58}"/>
              </a:ext>
            </a:extLst>
          </p:cNvPr>
          <p:cNvSpPr txBox="1"/>
          <p:nvPr/>
        </p:nvSpPr>
        <p:spPr>
          <a:xfrm>
            <a:off x="1213863" y="3251672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걷기</a:t>
            </a:r>
            <a:r>
              <a:rPr lang="en-US" altLang="ko-KR" sz="850" dirty="0">
                <a:solidFill>
                  <a:schemeClr val="tx2"/>
                </a:solidFill>
              </a:rPr>
              <a:t>, </a:t>
            </a:r>
            <a:r>
              <a:rPr lang="ko-KR" altLang="en-US" sz="850" dirty="0">
                <a:solidFill>
                  <a:schemeClr val="tx2"/>
                </a:solidFill>
              </a:rPr>
              <a:t>섰다가 걷기</a:t>
            </a:r>
            <a:r>
              <a:rPr lang="en-US" altLang="ko-KR" sz="850" dirty="0">
                <a:solidFill>
                  <a:schemeClr val="tx2"/>
                </a:solidFill>
              </a:rPr>
              <a:t>, </a:t>
            </a:r>
            <a:r>
              <a:rPr lang="ko-KR" altLang="en-US" sz="850" dirty="0">
                <a:solidFill>
                  <a:schemeClr val="tx2"/>
                </a:solidFill>
              </a:rPr>
              <a:t>동결 재현을 시험</a:t>
            </a:r>
            <a:endParaRPr lang="ko-KR" sz="850" dirty="0"/>
          </a:p>
        </p:txBody>
      </p:sp>
      <p:sp>
        <p:nvSpPr>
          <p:cNvPr id="40" name="Shape 2">
            <a:extLst>
              <a:ext uri="{FF2B5EF4-FFF2-40B4-BE49-F238E27FC236}">
                <a16:creationId xmlns:a16="http://schemas.microsoft.com/office/drawing/2014/main" id="{B5FDE80F-7F7A-07F3-35F8-554284A108BC}"/>
              </a:ext>
            </a:extLst>
          </p:cNvPr>
          <p:cNvSpPr/>
          <p:nvPr/>
        </p:nvSpPr>
        <p:spPr>
          <a:xfrm>
            <a:off x="4966604" y="914400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45EC5B68-9BB3-0F5A-D1CF-7C5DDCB107DA}"/>
              </a:ext>
            </a:extLst>
          </p:cNvPr>
          <p:cNvSpPr txBox="1"/>
          <p:nvPr/>
        </p:nvSpPr>
        <p:spPr>
          <a:xfrm>
            <a:off x="5149484" y="1097280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낙상 감지</a:t>
            </a:r>
            <a:endParaRPr lang="ko-KR" sz="1050" dirty="0"/>
          </a:p>
        </p:txBody>
      </p:sp>
      <p:sp>
        <p:nvSpPr>
          <p:cNvPr id="42" name="Text 4">
            <a:extLst>
              <a:ext uri="{FF2B5EF4-FFF2-40B4-BE49-F238E27FC236}">
                <a16:creationId xmlns:a16="http://schemas.microsoft.com/office/drawing/2014/main" id="{89EB7E9D-D435-53A4-5113-01BFF3676128}"/>
              </a:ext>
            </a:extLst>
          </p:cNvPr>
          <p:cNvSpPr txBox="1"/>
          <p:nvPr/>
        </p:nvSpPr>
        <p:spPr>
          <a:xfrm>
            <a:off x="5149484" y="1371600"/>
            <a:ext cx="2298192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큰 충격 뒤 누운 자세가 이어지면 낙상으로 판단</a:t>
            </a:r>
            <a:endParaRPr lang="ko-KR" sz="850" dirty="0"/>
          </a:p>
        </p:txBody>
      </p:sp>
      <p:sp>
        <p:nvSpPr>
          <p:cNvPr id="46" name="Shape 2">
            <a:extLst>
              <a:ext uri="{FF2B5EF4-FFF2-40B4-BE49-F238E27FC236}">
                <a16:creationId xmlns:a16="http://schemas.microsoft.com/office/drawing/2014/main" id="{8AD226DF-09E9-189F-A777-3814F0DB4EA7}"/>
              </a:ext>
            </a:extLst>
          </p:cNvPr>
          <p:cNvSpPr/>
          <p:nvPr/>
        </p:nvSpPr>
        <p:spPr>
          <a:xfrm>
            <a:off x="4966604" y="1920240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">
            <a:extLst>
              <a:ext uri="{FF2B5EF4-FFF2-40B4-BE49-F238E27FC236}">
                <a16:creationId xmlns:a16="http://schemas.microsoft.com/office/drawing/2014/main" id="{9CE42FB7-49C8-9740-C3CD-5915451AF848}"/>
              </a:ext>
            </a:extLst>
          </p:cNvPr>
          <p:cNvSpPr txBox="1"/>
          <p:nvPr/>
        </p:nvSpPr>
        <p:spPr>
          <a:xfrm>
            <a:off x="5149484" y="2103120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보호자 알림</a:t>
            </a:r>
            <a:endParaRPr lang="ko-KR" sz="1050" dirty="0"/>
          </a:p>
        </p:txBody>
      </p:sp>
      <p:sp>
        <p:nvSpPr>
          <p:cNvPr id="48" name="Text 4">
            <a:extLst>
              <a:ext uri="{FF2B5EF4-FFF2-40B4-BE49-F238E27FC236}">
                <a16:creationId xmlns:a16="http://schemas.microsoft.com/office/drawing/2014/main" id="{675DECD6-9C18-57D0-538B-2DE1E8960340}"/>
              </a:ext>
            </a:extLst>
          </p:cNvPr>
          <p:cNvSpPr txBox="1"/>
          <p:nvPr/>
        </p:nvSpPr>
        <p:spPr>
          <a:xfrm>
            <a:off x="5149484" y="2377440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낙상 감지하면 보호자 휴대폰으로 알림</a:t>
            </a:r>
            <a:endParaRPr lang="ko-KR" sz="850" dirty="0"/>
          </a:p>
        </p:txBody>
      </p:sp>
      <p:sp>
        <p:nvSpPr>
          <p:cNvPr id="49" name="Shape 2">
            <a:extLst>
              <a:ext uri="{FF2B5EF4-FFF2-40B4-BE49-F238E27FC236}">
                <a16:creationId xmlns:a16="http://schemas.microsoft.com/office/drawing/2014/main" id="{0C96B309-BCCD-E14B-07E3-AB3C0D508221}"/>
              </a:ext>
            </a:extLst>
          </p:cNvPr>
          <p:cNvSpPr/>
          <p:nvPr/>
        </p:nvSpPr>
        <p:spPr>
          <a:xfrm>
            <a:off x="1030983" y="3840154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">
            <a:extLst>
              <a:ext uri="{FF2B5EF4-FFF2-40B4-BE49-F238E27FC236}">
                <a16:creationId xmlns:a16="http://schemas.microsoft.com/office/drawing/2014/main" id="{10F8029B-BED0-C950-F710-89E5E7EA158B}"/>
              </a:ext>
            </a:extLst>
          </p:cNvPr>
          <p:cNvSpPr txBox="1"/>
          <p:nvPr/>
        </p:nvSpPr>
        <p:spPr>
          <a:xfrm>
            <a:off x="1213863" y="4023034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b="1" dirty="0"/>
              <a:t>무선 연동</a:t>
            </a:r>
            <a:endParaRPr lang="ko-KR" altLang="ko-KR" sz="1050" dirty="0"/>
          </a:p>
        </p:txBody>
      </p:sp>
      <p:sp>
        <p:nvSpPr>
          <p:cNvPr id="51" name="Text 4">
            <a:extLst>
              <a:ext uri="{FF2B5EF4-FFF2-40B4-BE49-F238E27FC236}">
                <a16:creationId xmlns:a16="http://schemas.microsoft.com/office/drawing/2014/main" id="{B5CB2DC9-0BB5-7DC1-E8E5-E1A4AB98B6B3}"/>
              </a:ext>
            </a:extLst>
          </p:cNvPr>
          <p:cNvSpPr txBox="1"/>
          <p:nvPr/>
        </p:nvSpPr>
        <p:spPr>
          <a:xfrm>
            <a:off x="1213863" y="4297354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850" dirty="0">
                <a:solidFill>
                  <a:schemeClr val="tx2"/>
                </a:solidFill>
              </a:rPr>
              <a:t>무선으로 연결해 휴대폰에서 상태 확인</a:t>
            </a:r>
            <a:endParaRPr lang="ko-KR" altLang="ko-KR" sz="850" dirty="0"/>
          </a:p>
        </p:txBody>
      </p:sp>
      <p:sp>
        <p:nvSpPr>
          <p:cNvPr id="52" name="Shape 2">
            <a:extLst>
              <a:ext uri="{FF2B5EF4-FFF2-40B4-BE49-F238E27FC236}">
                <a16:creationId xmlns:a16="http://schemas.microsoft.com/office/drawing/2014/main" id="{CF6790CE-0486-D062-C8A5-3C8F4E0AA806}"/>
              </a:ext>
            </a:extLst>
          </p:cNvPr>
          <p:cNvSpPr/>
          <p:nvPr/>
        </p:nvSpPr>
        <p:spPr>
          <a:xfrm>
            <a:off x="4966604" y="2926080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40DE2717-D20D-9291-5152-918214C37531}"/>
              </a:ext>
            </a:extLst>
          </p:cNvPr>
          <p:cNvSpPr txBox="1"/>
          <p:nvPr/>
        </p:nvSpPr>
        <p:spPr>
          <a:xfrm>
            <a:off x="5149484" y="3108960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방향 전환 구분</a:t>
            </a:r>
            <a:endParaRPr lang="ko-KR" sz="1050" dirty="0"/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EF2E7BFA-36C7-2257-B521-28F081055804}"/>
              </a:ext>
            </a:extLst>
          </p:cNvPr>
          <p:cNvSpPr txBox="1"/>
          <p:nvPr/>
        </p:nvSpPr>
        <p:spPr>
          <a:xfrm>
            <a:off x="5149484" y="3383280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오작동 감소를 위해 회전방향을 측정</a:t>
            </a:r>
            <a:endParaRPr lang="ko-KR" sz="850" dirty="0"/>
          </a:p>
        </p:txBody>
      </p:sp>
      <p:sp>
        <p:nvSpPr>
          <p:cNvPr id="55" name="Shape 2">
            <a:extLst>
              <a:ext uri="{FF2B5EF4-FFF2-40B4-BE49-F238E27FC236}">
                <a16:creationId xmlns:a16="http://schemas.microsoft.com/office/drawing/2014/main" id="{EFE3BB90-6534-9D8F-FEFD-DF2A55830E37}"/>
              </a:ext>
            </a:extLst>
          </p:cNvPr>
          <p:cNvSpPr/>
          <p:nvPr/>
        </p:nvSpPr>
        <p:spPr>
          <a:xfrm>
            <a:off x="4966604" y="3931920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3">
            <a:extLst>
              <a:ext uri="{FF2B5EF4-FFF2-40B4-BE49-F238E27FC236}">
                <a16:creationId xmlns:a16="http://schemas.microsoft.com/office/drawing/2014/main" id="{40471963-5CCD-0561-FABB-E477D0FF4059}"/>
              </a:ext>
            </a:extLst>
          </p:cNvPr>
          <p:cNvSpPr txBox="1"/>
          <p:nvPr/>
        </p:nvSpPr>
        <p:spPr>
          <a:xfrm>
            <a:off x="5149484" y="4114800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 err="1">
                <a:solidFill>
                  <a:schemeClr val="tx1"/>
                </a:solidFill>
              </a:rPr>
              <a:t>심박</a:t>
            </a:r>
            <a:r>
              <a:rPr lang="ko-KR" altLang="en-US" sz="1050" b="1" dirty="0">
                <a:solidFill>
                  <a:schemeClr val="tx1"/>
                </a:solidFill>
              </a:rPr>
              <a:t> 측정 추가</a:t>
            </a:r>
            <a:endParaRPr lang="ko-KR" sz="1050" dirty="0"/>
          </a:p>
        </p:txBody>
      </p:sp>
      <p:sp>
        <p:nvSpPr>
          <p:cNvPr id="57" name="Text 4">
            <a:extLst>
              <a:ext uri="{FF2B5EF4-FFF2-40B4-BE49-F238E27FC236}">
                <a16:creationId xmlns:a16="http://schemas.microsoft.com/office/drawing/2014/main" id="{470C83D5-C049-7FD9-23AB-22462A42B4F8}"/>
              </a:ext>
            </a:extLst>
          </p:cNvPr>
          <p:cNvSpPr txBox="1"/>
          <p:nvPr/>
        </p:nvSpPr>
        <p:spPr>
          <a:xfrm>
            <a:off x="5149484" y="4389120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확장 기능</a:t>
            </a:r>
            <a:endParaRPr lang="ko-KR" sz="85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F004BA8-9E67-3CF2-7BCD-0B637AA1B8B2}"/>
              </a:ext>
            </a:extLst>
          </p:cNvPr>
          <p:cNvSpPr txBox="1"/>
          <p:nvPr/>
        </p:nvSpPr>
        <p:spPr>
          <a:xfrm>
            <a:off x="1030983" y="1429417"/>
            <a:ext cx="24810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tx1">
                    <a:lumMod val="90000"/>
                    <a:lumOff val="10000"/>
                  </a:schemeClr>
                </a:solidFill>
              </a:rPr>
              <a:t>필수 기능</a:t>
            </a:r>
            <a:endParaRPr lang="ko-KR" altLang="ko-KR" sz="1400" b="1" dirty="0">
              <a:solidFill>
                <a:schemeClr val="tx1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DDD487-9A98-E730-8760-55EDC84BCDA4}"/>
              </a:ext>
            </a:extLst>
          </p:cNvPr>
          <p:cNvSpPr txBox="1"/>
          <p:nvPr/>
        </p:nvSpPr>
        <p:spPr>
          <a:xfrm>
            <a:off x="4972047" y="565308"/>
            <a:ext cx="24810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tx1">
                    <a:lumMod val="90000"/>
                    <a:lumOff val="10000"/>
                  </a:schemeClr>
                </a:solidFill>
              </a:rPr>
              <a:t>선택 기능</a:t>
            </a:r>
            <a:endParaRPr lang="ko-KR" altLang="ko-KR" sz="1400" b="1" dirty="0">
              <a:solidFill>
                <a:schemeClr val="tx1">
                  <a:lumMod val="90000"/>
                  <a:lumOff val="1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G-Cue">
  <a:themeElements>
    <a:clrScheme name="FoG-Cue">
      <a:dk1>
        <a:srgbClr val="111111"/>
      </a:dk1>
      <a:lt1>
        <a:srgbClr val="FFFFFF"/>
      </a:lt1>
      <a:dk2>
        <a:srgbClr val="444444"/>
      </a:dk2>
      <a:lt2>
        <a:srgbClr val="F5F5F5"/>
      </a:lt2>
      <a:accent1>
        <a:srgbClr val="00A651"/>
      </a:accent1>
      <a:accent2>
        <a:srgbClr val="1A73E8"/>
      </a:accent2>
      <a:accent3>
        <a:srgbClr val="0B7A3D"/>
      </a:accent3>
      <a:accent4>
        <a:srgbClr val="5CC98C"/>
      </a:accent4>
      <a:accent5>
        <a:srgbClr val="B8E6CC"/>
      </a:accent5>
      <a:accent6>
        <a:srgbClr val="888888"/>
      </a:accent6>
      <a:hlink>
        <a:srgbClr val="1A73E8"/>
      </a:hlink>
      <a:folHlink>
        <a:srgbClr val="0B7A3D"/>
      </a:folHlink>
    </a:clrScheme>
    <a:fontScheme name="FoG-Cu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658</Words>
  <Application>Microsoft Macintosh PowerPoint</Application>
  <PresentationFormat>화면 슬라이드 쇼(16:9)</PresentationFormat>
  <Paragraphs>174</Paragraphs>
  <Slides>12</Slides>
  <Notes>12</Notes>
  <HiddenSlides>0</HiddenSlides>
  <MMClips>6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Pretendard</vt:lpstr>
      <vt:lpstr>Arial</vt:lpstr>
      <vt:lpstr>FoG-Cue</vt:lpstr>
      <vt:lpstr>보행동결 자극 시스템</vt:lpstr>
      <vt:lpstr>목차</vt:lpstr>
      <vt:lpstr>프로젝트 개요</vt:lpstr>
      <vt:lpstr>시스템 구성(회로 연결)</vt:lpstr>
      <vt:lpstr>시스템 구성(기능 테스트)</vt:lpstr>
      <vt:lpstr>시스템 구성(착용과 기록 환경 가정)</vt:lpstr>
      <vt:lpstr>데이터 수집</vt:lpstr>
      <vt:lpstr>보행 신호 분석</vt:lpstr>
      <vt:lpstr>동결 판정(테스트)</vt:lpstr>
      <vt:lpstr>동결 판정(실시간 구현)</vt:lpstr>
      <vt:lpstr>설계 변경 사항</vt:lpstr>
      <vt:lpstr>향후 계획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보행동결 자극 시스템 — 중간발표</dc:title>
  <dc:subject>PptxGenJS Presentation</dc:subject>
  <dc:creator>이종하</dc:creator>
  <cp:lastModifiedBy>이종하</cp:lastModifiedBy>
  <cp:revision>68</cp:revision>
  <dcterms:created xsi:type="dcterms:W3CDTF">2026-10-28T07:43:59Z</dcterms:created>
  <dcterms:modified xsi:type="dcterms:W3CDTF">2026-10-28T08:44:16Z</dcterms:modified>
</cp:coreProperties>
</file>