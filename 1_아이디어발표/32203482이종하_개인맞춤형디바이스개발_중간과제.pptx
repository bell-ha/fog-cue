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IBM Plex Mono" panose="020B0509050203000203" pitchFamily="49" charset="0"/>
      <p:regular r:id="rId14"/>
      <p:bold r:id="rId15"/>
      <p:italic r:id="rId16"/>
      <p:boldItalic r:id="rId17"/>
    </p:embeddedFont>
    <p:embeddedFont>
      <p:font typeface="Pretendard" panose="02000503000000020004" pitchFamily="2" charset="-127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67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39.png"/><Relationship Id="rId5" Type="http://schemas.openxmlformats.org/officeDocument/2006/relationships/image" Target="../media/image3.png"/><Relationship Id="rId10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7.png"/><Relationship Id="rId5" Type="http://schemas.openxmlformats.org/officeDocument/2006/relationships/image" Target="../media/image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2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39.png"/><Relationship Id="rId4" Type="http://schemas.openxmlformats.org/officeDocument/2006/relationships/image" Target="../media/image49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2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39.png"/><Relationship Id="rId10" Type="http://schemas.openxmlformats.org/officeDocument/2006/relationships/image" Target="../media/image80.png"/><Relationship Id="rId4" Type="http://schemas.openxmlformats.org/officeDocument/2006/relationships/image" Target="../media/image3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10" Type="http://schemas.openxmlformats.org/officeDocument/2006/relationships/image" Target="../media/image39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1783080"/>
            <a:ext cx="426339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41"/>
              </a:lnSpc>
              <a:buNone/>
            </a:pPr>
            <a:r>
              <a:rPr lang="en-US" sz="3135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보행동결 자극 시스템</a:t>
            </a:r>
            <a:endParaRPr lang="en-US" sz="3135" dirty="0"/>
          </a:p>
        </p:txBody>
      </p:sp>
      <p:sp>
        <p:nvSpPr>
          <p:cNvPr id="5" name="Text 2"/>
          <p:cNvSpPr/>
          <p:nvPr/>
        </p:nvSpPr>
        <p:spPr>
          <a:xfrm>
            <a:off x="628650" y="2628900"/>
            <a:ext cx="3910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파킨슨 환자는 걷다가 갑자기 발이 바닥에 붙는다.(보행동결)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628650" y="2868930"/>
            <a:ext cx="36461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순간을 감지해 자극을 주는 시스템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628650" y="3291840"/>
            <a:ext cx="30232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 기반 보행 동결 검출 및 청각 자극 시스템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28650" y="3634740"/>
            <a:ext cx="10744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dirty="0">
                <a:solidFill>
                  <a:srgbClr val="88888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이종하 · 2026.09.27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468630"/>
            <a:ext cx="2228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28650" y="651510"/>
            <a:ext cx="57664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파킨슨 환자는 걷다가 갑자기 발이 바닥에 붙는다</a:t>
            </a:r>
            <a:endParaRPr lang="en-US" sz="192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97396"/>
          <a:stretch/>
        </p:blipFill>
        <p:spPr>
          <a:xfrm>
            <a:off x="628650" y="1120140"/>
            <a:ext cx="491490" cy="238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0" y="1417320"/>
            <a:ext cx="45720" cy="4572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0" y="1863090"/>
            <a:ext cx="45720" cy="4572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0" y="2308860"/>
            <a:ext cx="45720" cy="457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11530" y="1348740"/>
            <a:ext cx="29432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증상을 보행 동결(Freezing of Gait, FoG)이라 한다</a:t>
            </a:r>
            <a:endParaRPr lang="en-US" sz="855" dirty="0"/>
          </a:p>
        </p:txBody>
      </p:sp>
      <p:sp>
        <p:nvSpPr>
          <p:cNvPr id="11" name="Text 4"/>
          <p:cNvSpPr/>
          <p:nvPr/>
        </p:nvSpPr>
        <p:spPr>
          <a:xfrm>
            <a:off x="811530" y="1794510"/>
            <a:ext cx="192024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발은 멈췄는데 상체만 앞으로 쏠린다</a:t>
            </a:r>
            <a:endParaRPr lang="en-US" sz="855" dirty="0"/>
          </a:p>
        </p:txBody>
      </p:sp>
      <p:sp>
        <p:nvSpPr>
          <p:cNvPr id="12" name="Text 5"/>
          <p:cNvSpPr/>
          <p:nvPr/>
        </p:nvSpPr>
        <p:spPr>
          <a:xfrm>
            <a:off x="811530" y="2240280"/>
            <a:ext cx="28575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문턱 · 좁은 통로 · 방향 전환, 약 효과가 떨어질 때 잦다</a:t>
            </a:r>
            <a:endParaRPr lang="en-US" sz="855" dirty="0"/>
          </a:p>
        </p:txBody>
      </p:sp>
      <p:sp>
        <p:nvSpPr>
          <p:cNvPr id="13" name="Text 6"/>
          <p:cNvSpPr/>
          <p:nvPr/>
        </p:nvSpPr>
        <p:spPr>
          <a:xfrm>
            <a:off x="811530" y="1554480"/>
            <a:ext cx="3657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도파민이 부족해 걸으려는 명령이 순간적으로 끊겨서 생긴다.</a:t>
            </a:r>
            <a:endParaRPr lang="en-US" sz="713" dirty="0"/>
          </a:p>
        </p:txBody>
      </p:sp>
      <p:sp>
        <p:nvSpPr>
          <p:cNvPr id="14" name="Text 7"/>
          <p:cNvSpPr/>
          <p:nvPr/>
        </p:nvSpPr>
        <p:spPr>
          <a:xfrm>
            <a:off x="811530" y="2000250"/>
            <a:ext cx="31546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균형을 잡을 수단이 없어 그대로 넘어진다. 파킨슨 낙상의 주요 원인이다</a:t>
            </a:r>
            <a:endParaRPr lang="en-US" sz="713" dirty="0"/>
          </a:p>
        </p:txBody>
      </p:sp>
      <p:sp>
        <p:nvSpPr>
          <p:cNvPr id="15" name="Text 8"/>
          <p:cNvSpPr/>
          <p:nvPr/>
        </p:nvSpPr>
        <p:spPr>
          <a:xfrm>
            <a:off x="811530" y="2446020"/>
            <a:ext cx="24631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본인이 예측할 수 없고, 스스로 발을 뗄 수단도 없다</a:t>
            </a:r>
            <a:endParaRPr lang="en-US" sz="713" dirty="0"/>
          </a:p>
        </p:txBody>
      </p:sp>
      <p:sp>
        <p:nvSpPr>
          <p:cNvPr id="16" name="Text 9"/>
          <p:cNvSpPr/>
          <p:nvPr/>
        </p:nvSpPr>
        <p:spPr>
          <a:xfrm>
            <a:off x="628650" y="2777490"/>
            <a:ext cx="73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FoG 진행 3단계</a:t>
            </a:r>
            <a:endParaRPr lang="en-US" sz="713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" y="2983230"/>
            <a:ext cx="3714750" cy="4763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2950" y="3714750"/>
            <a:ext cx="3543300" cy="952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4380" y="3749040"/>
            <a:ext cx="91440" cy="3429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8690" y="3749040"/>
            <a:ext cx="91440" cy="3429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3000" y="3749040"/>
            <a:ext cx="91440" cy="34290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37309" y="3749040"/>
            <a:ext cx="91440" cy="34290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31619" y="3749040"/>
            <a:ext cx="91440" cy="34290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25930" y="3749040"/>
            <a:ext cx="91440" cy="34290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20240" y="3749040"/>
            <a:ext cx="91440" cy="34290"/>
          </a:xfrm>
          <a:prstGeom prst="rect">
            <a:avLst/>
          </a:prstGeom>
        </p:spPr>
      </p:pic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114550" y="3749040"/>
            <a:ext cx="91440" cy="34290"/>
          </a:xfrm>
          <a:prstGeom prst="rect">
            <a:avLst/>
          </a:prstGeom>
        </p:spPr>
      </p:pic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03144" y="3749040"/>
            <a:ext cx="91440" cy="34290"/>
          </a:xfrm>
          <a:prstGeom prst="rect">
            <a:avLst/>
          </a:prstGeom>
        </p:spPr>
      </p:pic>
      <p:pic>
        <p:nvPicPr>
          <p:cNvPr id="28" name="Image 1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406015" y="3749040"/>
            <a:ext cx="91440" cy="34290"/>
          </a:xfrm>
          <a:prstGeom prst="rect">
            <a:avLst/>
          </a:prstGeom>
        </p:spPr>
      </p:pic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14450" y="3440430"/>
            <a:ext cx="116691" cy="270995"/>
          </a:xfrm>
          <a:prstGeom prst="rect">
            <a:avLst/>
          </a:prstGeom>
        </p:spPr>
      </p:pic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23010" y="3440430"/>
            <a:ext cx="122405" cy="265279"/>
          </a:xfrm>
          <a:prstGeom prst="rect">
            <a:avLst/>
          </a:prstGeom>
        </p:spPr>
      </p:pic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77315" y="3683318"/>
            <a:ext cx="91440" cy="22860"/>
          </a:xfrm>
          <a:prstGeom prst="rect">
            <a:avLst/>
          </a:prstGeom>
        </p:spPr>
      </p:pic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12"/>
          <a:srcRect r="6098" b="11861"/>
          <a:stretch/>
        </p:blipFill>
        <p:spPr>
          <a:xfrm>
            <a:off x="1181515" y="3646228"/>
            <a:ext cx="83296" cy="40194"/>
          </a:xfrm>
          <a:prstGeom prst="rect">
            <a:avLst/>
          </a:prstGeom>
        </p:spPr>
      </p:pic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13"/>
          <a:srcRect r="8137" b="617"/>
          <a:stretch/>
        </p:blipFill>
        <p:spPr>
          <a:xfrm>
            <a:off x="1271907" y="3276379"/>
            <a:ext cx="96078" cy="168230"/>
          </a:xfrm>
          <a:prstGeom prst="rect">
            <a:avLst/>
          </a:prstGeom>
        </p:spPr>
      </p:pic>
      <p:pic>
        <p:nvPicPr>
          <p:cNvPr id="34" name="Image 2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333256" y="3247568"/>
            <a:ext cx="26146" cy="42319"/>
          </a:xfrm>
          <a:prstGeom prst="rect">
            <a:avLst/>
          </a:prstGeom>
        </p:spPr>
      </p:pic>
      <p:pic>
        <p:nvPicPr>
          <p:cNvPr id="35" name="Image 23" descr="preencoded.png"/>
          <p:cNvPicPr>
            <a:picLocks noChangeAspect="1"/>
          </p:cNvPicPr>
          <p:nvPr/>
        </p:nvPicPr>
        <p:blipFill>
          <a:blip r:embed="rId15"/>
          <a:srcRect r="10258" b="10257"/>
          <a:stretch/>
        </p:blipFill>
        <p:spPr>
          <a:xfrm>
            <a:off x="1287427" y="3136360"/>
            <a:ext cx="102880" cy="102881"/>
          </a:xfrm>
          <a:prstGeom prst="rect">
            <a:avLst/>
          </a:prstGeom>
        </p:spPr>
      </p:pic>
      <p:pic>
        <p:nvPicPr>
          <p:cNvPr id="36" name="Image 24" descr="preencoded.png"/>
          <p:cNvPicPr>
            <a:picLocks noChangeAspect="1"/>
          </p:cNvPicPr>
          <p:nvPr/>
        </p:nvPicPr>
        <p:blipFill>
          <a:blip r:embed="rId16"/>
          <a:srcRect r="6216" b="-19896"/>
          <a:stretch/>
        </p:blipFill>
        <p:spPr>
          <a:xfrm>
            <a:off x="1346294" y="3302102"/>
            <a:ext cx="60942" cy="143535"/>
          </a:xfrm>
          <a:prstGeom prst="rect">
            <a:avLst/>
          </a:prstGeom>
        </p:spPr>
      </p:pic>
      <p:pic>
        <p:nvPicPr>
          <p:cNvPr id="37" name="Image 2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243495" y="3289565"/>
            <a:ext cx="83823" cy="137366"/>
          </a:xfrm>
          <a:prstGeom prst="rect">
            <a:avLst/>
          </a:prstGeom>
        </p:spPr>
      </p:pic>
      <p:pic>
        <p:nvPicPr>
          <p:cNvPr id="38" name="Image 2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348866" y="3440430"/>
            <a:ext cx="50961" cy="276703"/>
          </a:xfrm>
          <a:prstGeom prst="rect">
            <a:avLst/>
          </a:prstGeom>
        </p:spPr>
      </p:pic>
      <p:pic>
        <p:nvPicPr>
          <p:cNvPr id="39" name="Image 2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431733" y="3440430"/>
            <a:ext cx="50961" cy="276703"/>
          </a:xfrm>
          <a:prstGeom prst="rect">
            <a:avLst/>
          </a:prstGeom>
        </p:spPr>
      </p:pic>
      <p:pic>
        <p:nvPicPr>
          <p:cNvPr id="40" name="Image 2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303145" y="3689032"/>
            <a:ext cx="85725" cy="22860"/>
          </a:xfrm>
          <a:prstGeom prst="rect">
            <a:avLst/>
          </a:prstGeom>
        </p:spPr>
      </p:pic>
      <p:pic>
        <p:nvPicPr>
          <p:cNvPr id="41" name="Image 2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406016" y="3689032"/>
            <a:ext cx="85725" cy="22860"/>
          </a:xfrm>
          <a:prstGeom prst="rect">
            <a:avLst/>
          </a:prstGeom>
        </p:spPr>
      </p:pic>
      <p:pic>
        <p:nvPicPr>
          <p:cNvPr id="42" name="Image 3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2357439" y="3280410"/>
            <a:ext cx="85725" cy="160020"/>
          </a:xfrm>
          <a:prstGeom prst="rect">
            <a:avLst/>
          </a:prstGeom>
        </p:spPr>
      </p:pic>
      <p:pic>
        <p:nvPicPr>
          <p:cNvPr id="43" name="Image 3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2400301" y="3246120"/>
            <a:ext cx="21431" cy="40005"/>
          </a:xfrm>
          <a:prstGeom prst="rect">
            <a:avLst/>
          </a:prstGeom>
        </p:spPr>
      </p:pic>
      <p:pic>
        <p:nvPicPr>
          <p:cNvPr id="44" name="Image 3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2348866" y="3140393"/>
            <a:ext cx="102870" cy="102870"/>
          </a:xfrm>
          <a:prstGeom prst="rect">
            <a:avLst/>
          </a:prstGeom>
        </p:spPr>
      </p:pic>
      <p:pic>
        <p:nvPicPr>
          <p:cNvPr id="45" name="Image 3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2428875" y="3297555"/>
            <a:ext cx="35244" cy="155259"/>
          </a:xfrm>
          <a:prstGeom prst="rect">
            <a:avLst/>
          </a:prstGeom>
        </p:spPr>
      </p:pic>
      <p:pic>
        <p:nvPicPr>
          <p:cNvPr id="46" name="Image 3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2360295" y="3297555"/>
            <a:ext cx="35244" cy="155259"/>
          </a:xfrm>
          <a:prstGeom prst="rect">
            <a:avLst/>
          </a:prstGeom>
        </p:spPr>
      </p:pic>
      <p:pic>
        <p:nvPicPr>
          <p:cNvPr id="47" name="Image 3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3543300" y="3191828"/>
            <a:ext cx="102623" cy="28549"/>
          </a:xfrm>
          <a:prstGeom prst="rect">
            <a:avLst/>
          </a:prstGeom>
        </p:spPr>
      </p:pic>
      <p:pic>
        <p:nvPicPr>
          <p:cNvPr id="48" name="Image 3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491866" y="3440430"/>
            <a:ext cx="50961" cy="276703"/>
          </a:xfrm>
          <a:prstGeom prst="rect">
            <a:avLst/>
          </a:prstGeom>
        </p:spPr>
      </p:pic>
      <p:pic>
        <p:nvPicPr>
          <p:cNvPr id="49" name="Image 3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3574733" y="3440430"/>
            <a:ext cx="50961" cy="276703"/>
          </a:xfrm>
          <a:prstGeom prst="rect">
            <a:avLst/>
          </a:prstGeom>
        </p:spPr>
      </p:pic>
      <p:pic>
        <p:nvPicPr>
          <p:cNvPr id="50" name="Image 3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446145" y="3689032"/>
            <a:ext cx="85725" cy="22860"/>
          </a:xfrm>
          <a:prstGeom prst="rect">
            <a:avLst/>
          </a:prstGeom>
        </p:spPr>
      </p:pic>
      <p:pic>
        <p:nvPicPr>
          <p:cNvPr id="51" name="Image 39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3549016" y="3689032"/>
            <a:ext cx="85725" cy="22860"/>
          </a:xfrm>
          <a:prstGeom prst="rect">
            <a:avLst/>
          </a:prstGeom>
        </p:spPr>
      </p:pic>
      <p:pic>
        <p:nvPicPr>
          <p:cNvPr id="52" name="Image 40" descr="preencoded.png"/>
          <p:cNvPicPr>
            <a:picLocks noChangeAspect="1"/>
          </p:cNvPicPr>
          <p:nvPr/>
        </p:nvPicPr>
        <p:blipFill>
          <a:blip r:embed="rId27"/>
          <a:srcRect r="5462" b="1926"/>
          <a:stretch/>
        </p:blipFill>
        <p:spPr>
          <a:xfrm>
            <a:off x="3504144" y="3276810"/>
            <a:ext cx="135568" cy="177566"/>
          </a:xfrm>
          <a:prstGeom prst="rect">
            <a:avLst/>
          </a:prstGeom>
        </p:spPr>
      </p:pic>
      <p:pic>
        <p:nvPicPr>
          <p:cNvPr id="53" name="Image 41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3606062" y="3262919"/>
            <a:ext cx="35850" cy="45263"/>
          </a:xfrm>
          <a:prstGeom prst="rect">
            <a:avLst/>
          </a:prstGeom>
        </p:spPr>
      </p:pic>
      <p:pic>
        <p:nvPicPr>
          <p:cNvPr id="54" name="Image 42" descr="preencoded.png"/>
          <p:cNvPicPr>
            <a:picLocks noChangeAspect="1"/>
          </p:cNvPicPr>
          <p:nvPr/>
        </p:nvPicPr>
        <p:blipFill>
          <a:blip r:embed="rId15"/>
          <a:srcRect r="24240" b="24239"/>
          <a:stretch/>
        </p:blipFill>
        <p:spPr>
          <a:xfrm>
            <a:off x="3576508" y="3145411"/>
            <a:ext cx="102895" cy="102896"/>
          </a:xfrm>
          <a:prstGeom prst="rect">
            <a:avLst/>
          </a:prstGeom>
        </p:spPr>
      </p:pic>
      <p:pic>
        <p:nvPicPr>
          <p:cNvPr id="55" name="Image 4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3574055" y="3321530"/>
            <a:ext cx="66841" cy="148549"/>
          </a:xfrm>
          <a:prstGeom prst="rect">
            <a:avLst/>
          </a:prstGeom>
        </p:spPr>
      </p:pic>
      <p:pic>
        <p:nvPicPr>
          <p:cNvPr id="56" name="Image 44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3511404" y="3293636"/>
            <a:ext cx="87721" cy="139249"/>
          </a:xfrm>
          <a:prstGeom prst="rect">
            <a:avLst/>
          </a:prstGeom>
        </p:spPr>
      </p:pic>
      <p:sp>
        <p:nvSpPr>
          <p:cNvPr id="57" name="Text 10"/>
          <p:cNvSpPr/>
          <p:nvPr/>
        </p:nvSpPr>
        <p:spPr>
          <a:xfrm>
            <a:off x="1131570" y="3811905"/>
            <a:ext cx="365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보행</a:t>
            </a:r>
            <a:endParaRPr lang="en-US" sz="606" dirty="0"/>
          </a:p>
        </p:txBody>
      </p:sp>
      <p:sp>
        <p:nvSpPr>
          <p:cNvPr id="58" name="Text 11"/>
          <p:cNvSpPr/>
          <p:nvPr/>
        </p:nvSpPr>
        <p:spPr>
          <a:xfrm>
            <a:off x="2080260" y="3811905"/>
            <a:ext cx="6400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발이 안 떨어진다</a:t>
            </a:r>
            <a:endParaRPr lang="en-US" sz="606" dirty="0"/>
          </a:p>
        </p:txBody>
      </p:sp>
      <p:sp>
        <p:nvSpPr>
          <p:cNvPr id="59" name="Text 12"/>
          <p:cNvSpPr/>
          <p:nvPr/>
        </p:nvSpPr>
        <p:spPr>
          <a:xfrm>
            <a:off x="3126106" y="3811905"/>
            <a:ext cx="8343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상체만 앞으로 → 낙상</a:t>
            </a:r>
            <a:endParaRPr lang="en-US" sz="606" dirty="0"/>
          </a:p>
        </p:txBody>
      </p:sp>
      <p:sp>
        <p:nvSpPr>
          <p:cNvPr id="60" name="Text 13"/>
          <p:cNvSpPr/>
          <p:nvPr/>
        </p:nvSpPr>
        <p:spPr>
          <a:xfrm>
            <a:off x="5162550" y="1804988"/>
            <a:ext cx="29089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후 경과 기간별 FoG 유병률 — 메타분석 29편 · 5,361명 [1]</a:t>
            </a:r>
            <a:endParaRPr lang="en-US" sz="713" dirty="0"/>
          </a:p>
        </p:txBody>
      </p:sp>
      <p:pic>
        <p:nvPicPr>
          <p:cNvPr id="61" name="Image 45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5314950" y="3114675"/>
            <a:ext cx="3086100" cy="4763"/>
          </a:xfrm>
          <a:prstGeom prst="rect">
            <a:avLst/>
          </a:prstGeom>
        </p:spPr>
      </p:pic>
      <p:pic>
        <p:nvPicPr>
          <p:cNvPr id="62" name="Image 46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5314950" y="2686050"/>
            <a:ext cx="3086100" cy="4763"/>
          </a:xfrm>
          <a:prstGeom prst="rect">
            <a:avLst/>
          </a:prstGeom>
        </p:spPr>
      </p:pic>
      <p:pic>
        <p:nvPicPr>
          <p:cNvPr id="63" name="Image 47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5314950" y="2257425"/>
            <a:ext cx="3086100" cy="4763"/>
          </a:xfrm>
          <a:prstGeom prst="rect">
            <a:avLst/>
          </a:prstGeom>
        </p:spPr>
      </p:pic>
      <p:sp>
        <p:nvSpPr>
          <p:cNvPr id="64" name="Text 14"/>
          <p:cNvSpPr/>
          <p:nvPr/>
        </p:nvSpPr>
        <p:spPr>
          <a:xfrm>
            <a:off x="5206366" y="3491865"/>
            <a:ext cx="51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499" dirty="0"/>
          </a:p>
        </p:txBody>
      </p:sp>
      <p:sp>
        <p:nvSpPr>
          <p:cNvPr id="65" name="Text 15"/>
          <p:cNvSpPr/>
          <p:nvPr/>
        </p:nvSpPr>
        <p:spPr>
          <a:xfrm>
            <a:off x="5160645" y="3063240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</a:t>
            </a:r>
            <a:endParaRPr lang="en-US" sz="499" dirty="0"/>
          </a:p>
        </p:txBody>
      </p:sp>
      <p:sp>
        <p:nvSpPr>
          <p:cNvPr id="66" name="Text 16"/>
          <p:cNvSpPr/>
          <p:nvPr/>
        </p:nvSpPr>
        <p:spPr>
          <a:xfrm>
            <a:off x="5160645" y="2634615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499" dirty="0"/>
          </a:p>
        </p:txBody>
      </p:sp>
      <p:sp>
        <p:nvSpPr>
          <p:cNvPr id="67" name="Text 17"/>
          <p:cNvSpPr/>
          <p:nvPr/>
        </p:nvSpPr>
        <p:spPr>
          <a:xfrm>
            <a:off x="5160645" y="2205990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75</a:t>
            </a:r>
            <a:endParaRPr lang="en-US" sz="499" dirty="0"/>
          </a:p>
        </p:txBody>
      </p:sp>
      <p:pic>
        <p:nvPicPr>
          <p:cNvPr id="68" name="Image 48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5314950" y="2857500"/>
            <a:ext cx="3086100" cy="4763"/>
          </a:xfrm>
          <a:prstGeom prst="rect">
            <a:avLst/>
          </a:prstGeom>
        </p:spPr>
      </p:pic>
      <p:sp>
        <p:nvSpPr>
          <p:cNvPr id="69" name="Text 18"/>
          <p:cNvSpPr/>
          <p:nvPr/>
        </p:nvSpPr>
        <p:spPr>
          <a:xfrm>
            <a:off x="5337810" y="2743200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11111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전체 39.9</a:t>
            </a:r>
            <a:endParaRPr lang="en-US" sz="499" dirty="0"/>
          </a:p>
        </p:txBody>
      </p:sp>
      <p:pic>
        <p:nvPicPr>
          <p:cNvPr id="70" name="Image 49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5572125" y="3160395"/>
            <a:ext cx="628650" cy="382905"/>
          </a:xfrm>
          <a:prstGeom prst="rect">
            <a:avLst/>
          </a:prstGeom>
        </p:spPr>
      </p:pic>
      <p:pic>
        <p:nvPicPr>
          <p:cNvPr id="71" name="Image 50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6543675" y="2628900"/>
            <a:ext cx="628650" cy="914400"/>
          </a:xfrm>
          <a:prstGeom prst="rect">
            <a:avLst/>
          </a:prstGeom>
        </p:spPr>
      </p:pic>
      <p:pic>
        <p:nvPicPr>
          <p:cNvPr id="72" name="Image 51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7515225" y="2331720"/>
            <a:ext cx="628650" cy="1211580"/>
          </a:xfrm>
          <a:prstGeom prst="rect">
            <a:avLst/>
          </a:prstGeom>
        </p:spPr>
      </p:pic>
      <p:pic>
        <p:nvPicPr>
          <p:cNvPr id="73" name="Image 52" descr="preencoded.png"/>
          <p:cNvPicPr>
            <a:picLocks noChangeAspect="1"/>
          </p:cNvPicPr>
          <p:nvPr/>
        </p:nvPicPr>
        <p:blipFill>
          <a:blip r:embed="rId36"/>
          <a:srcRect r="99219"/>
          <a:stretch/>
        </p:blipFill>
        <p:spPr>
          <a:xfrm>
            <a:off x="6086475" y="2994660"/>
            <a:ext cx="7144" cy="331470"/>
          </a:xfrm>
          <a:prstGeom prst="rect">
            <a:avLst/>
          </a:prstGeom>
        </p:spPr>
      </p:pic>
      <p:pic>
        <p:nvPicPr>
          <p:cNvPr id="74" name="Image 53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6029325" y="2994660"/>
            <a:ext cx="114300" cy="7144"/>
          </a:xfrm>
          <a:prstGeom prst="rect">
            <a:avLst/>
          </a:prstGeom>
        </p:spPr>
      </p:pic>
      <p:pic>
        <p:nvPicPr>
          <p:cNvPr id="75" name="Image 54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6029325" y="3326130"/>
            <a:ext cx="114300" cy="7144"/>
          </a:xfrm>
          <a:prstGeom prst="rect">
            <a:avLst/>
          </a:prstGeom>
        </p:spPr>
      </p:pic>
      <p:pic>
        <p:nvPicPr>
          <p:cNvPr id="76" name="Image 55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7058025" y="2503170"/>
            <a:ext cx="7144" cy="257175"/>
          </a:xfrm>
          <a:prstGeom prst="rect">
            <a:avLst/>
          </a:prstGeom>
        </p:spPr>
      </p:pic>
      <p:pic>
        <p:nvPicPr>
          <p:cNvPr id="77" name="Image 5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7000875" y="2503170"/>
            <a:ext cx="114300" cy="7144"/>
          </a:xfrm>
          <a:prstGeom prst="rect">
            <a:avLst/>
          </a:prstGeom>
        </p:spPr>
      </p:pic>
      <p:pic>
        <p:nvPicPr>
          <p:cNvPr id="78" name="Image 57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7000875" y="2760345"/>
            <a:ext cx="114300" cy="7144"/>
          </a:xfrm>
          <a:prstGeom prst="rect">
            <a:avLst/>
          </a:prstGeom>
        </p:spPr>
      </p:pic>
      <p:pic>
        <p:nvPicPr>
          <p:cNvPr id="79" name="Image 5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029575" y="2154555"/>
            <a:ext cx="7144" cy="348615"/>
          </a:xfrm>
          <a:prstGeom prst="rect">
            <a:avLst/>
          </a:prstGeom>
        </p:spPr>
      </p:pic>
      <p:pic>
        <p:nvPicPr>
          <p:cNvPr id="80" name="Image 59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7972425" y="2154555"/>
            <a:ext cx="114300" cy="7144"/>
          </a:xfrm>
          <a:prstGeom prst="rect">
            <a:avLst/>
          </a:prstGeom>
        </p:spPr>
      </p:pic>
      <p:pic>
        <p:nvPicPr>
          <p:cNvPr id="81" name="Image 60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7972425" y="2503170"/>
            <a:ext cx="114300" cy="7144"/>
          </a:xfrm>
          <a:prstGeom prst="rect">
            <a:avLst/>
          </a:prstGeom>
        </p:spPr>
      </p:pic>
      <p:pic>
        <p:nvPicPr>
          <p:cNvPr id="82" name="Image 61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5314950" y="3543300"/>
            <a:ext cx="3086100" cy="9525"/>
          </a:xfrm>
          <a:prstGeom prst="rect">
            <a:avLst/>
          </a:prstGeom>
        </p:spPr>
      </p:pic>
      <p:sp>
        <p:nvSpPr>
          <p:cNvPr id="83" name="Text 19"/>
          <p:cNvSpPr/>
          <p:nvPr/>
        </p:nvSpPr>
        <p:spPr>
          <a:xfrm>
            <a:off x="5609273" y="3217545"/>
            <a:ext cx="30289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9"/>
              </a:lnSpc>
              <a:buNone/>
            </a:pPr>
            <a:r>
              <a:rPr lang="en-US" sz="784" dirty="0">
                <a:solidFill>
                  <a:srgbClr val="11111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22.4</a:t>
            </a:r>
            <a:endParaRPr lang="en-US" sz="784" dirty="0"/>
          </a:p>
        </p:txBody>
      </p:sp>
      <p:sp>
        <p:nvSpPr>
          <p:cNvPr id="84" name="Text 20"/>
          <p:cNvSpPr/>
          <p:nvPr/>
        </p:nvSpPr>
        <p:spPr>
          <a:xfrm>
            <a:off x="6580823" y="2686050"/>
            <a:ext cx="30289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9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53.3</a:t>
            </a:r>
            <a:endParaRPr lang="en-US" sz="784" dirty="0"/>
          </a:p>
        </p:txBody>
      </p:sp>
      <p:sp>
        <p:nvSpPr>
          <p:cNvPr id="85" name="Text 21"/>
          <p:cNvSpPr/>
          <p:nvPr/>
        </p:nvSpPr>
        <p:spPr>
          <a:xfrm>
            <a:off x="7552373" y="2388870"/>
            <a:ext cx="30289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9"/>
              </a:lnSpc>
              <a:buNone/>
            </a:pPr>
            <a:r>
              <a:rPr lang="en-US" sz="784" dirty="0">
                <a:solidFill>
                  <a:srgbClr val="FFFFFF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70.8</a:t>
            </a:r>
            <a:endParaRPr lang="en-US" sz="784" dirty="0"/>
          </a:p>
        </p:txBody>
      </p:sp>
      <p:sp>
        <p:nvSpPr>
          <p:cNvPr id="86" name="Text 22"/>
          <p:cNvSpPr/>
          <p:nvPr/>
        </p:nvSpPr>
        <p:spPr>
          <a:xfrm>
            <a:off x="5620702" y="3606165"/>
            <a:ext cx="531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5년 미만</a:t>
            </a:r>
            <a:endParaRPr lang="en-US" sz="606" dirty="0"/>
          </a:p>
        </p:txBody>
      </p:sp>
      <p:sp>
        <p:nvSpPr>
          <p:cNvPr id="87" name="Text 23"/>
          <p:cNvSpPr/>
          <p:nvPr/>
        </p:nvSpPr>
        <p:spPr>
          <a:xfrm>
            <a:off x="6592252" y="3606165"/>
            <a:ext cx="531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5년 이상</a:t>
            </a:r>
            <a:endParaRPr lang="en-US" sz="606" dirty="0"/>
          </a:p>
        </p:txBody>
      </p:sp>
      <p:sp>
        <p:nvSpPr>
          <p:cNvPr id="88" name="Text 24"/>
          <p:cNvSpPr/>
          <p:nvPr/>
        </p:nvSpPr>
        <p:spPr>
          <a:xfrm>
            <a:off x="7543800" y="3606165"/>
            <a:ext cx="571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10년 이상</a:t>
            </a:r>
            <a:endParaRPr lang="en-US" sz="606" dirty="0"/>
          </a:p>
        </p:txBody>
      </p:sp>
      <p:sp>
        <p:nvSpPr>
          <p:cNvPr id="89" name="Text 25"/>
          <p:cNvSpPr/>
          <p:nvPr/>
        </p:nvSpPr>
        <p:spPr>
          <a:xfrm>
            <a:off x="5210175" y="3795713"/>
            <a:ext cx="1920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10년이 지나면 열에 일곱이 겪는다</a:t>
            </a:r>
            <a:endParaRPr lang="en-US" sz="784" dirty="0"/>
          </a:p>
        </p:txBody>
      </p:sp>
      <p:pic>
        <p:nvPicPr>
          <p:cNvPr id="90" name="Image 62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91" name="Text 26"/>
          <p:cNvSpPr/>
          <p:nvPr/>
        </p:nvSpPr>
        <p:spPr>
          <a:xfrm>
            <a:off x="628650" y="4491990"/>
            <a:ext cx="65779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 Ge et al., The prevalence of freezing of gait in Parkinson’s disease and in patients with different disease durations and severities,</a:t>
            </a:r>
            <a:endParaRPr lang="en-US" sz="499" dirty="0"/>
          </a:p>
        </p:txBody>
      </p:sp>
      <p:sp>
        <p:nvSpPr>
          <p:cNvPr id="92" name="Text 27"/>
          <p:cNvSpPr/>
          <p:nvPr/>
        </p:nvSpPr>
        <p:spPr>
          <a:xfrm>
            <a:off x="628650" y="4617720"/>
            <a:ext cx="2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Chinese Neurosurgical Journal, 2020 (메타분석 29편 · 5,361명)</a:t>
            </a:r>
            <a:endParaRPr lang="en-US" sz="49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0187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468630"/>
            <a:ext cx="7486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· 페르소나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28650" y="651510"/>
            <a:ext cx="1405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쓰는가</a:t>
            </a:r>
            <a:endParaRPr lang="en-US" sz="192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09" y="1417320"/>
            <a:ext cx="45720" cy="457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8670" y="1354455"/>
            <a:ext cx="20173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착용자 — 보행 동결을 겪는 파킨슨 환자</a:t>
            </a:r>
            <a:endParaRPr lang="en-US" sz="819" dirty="0"/>
          </a:p>
        </p:txBody>
      </p:sp>
      <p:sp>
        <p:nvSpPr>
          <p:cNvPr id="9" name="Text 4"/>
          <p:cNvSpPr/>
          <p:nvPr/>
        </p:nvSpPr>
        <p:spPr>
          <a:xfrm>
            <a:off x="788670" y="1548765"/>
            <a:ext cx="336042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기기를 차고 소리를 듣는 사람</a:t>
            </a:r>
            <a:endParaRPr lang="en-US" sz="67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09" y="1863090"/>
            <a:ext cx="45720" cy="457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8670" y="1800225"/>
            <a:ext cx="176593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치료사 — 물리치료사 · 작업치료사</a:t>
            </a:r>
            <a:endParaRPr lang="en-US" sz="819" dirty="0"/>
          </a:p>
        </p:txBody>
      </p:sp>
      <p:sp>
        <p:nvSpPr>
          <p:cNvPr id="12" name="Text 6"/>
          <p:cNvSpPr/>
          <p:nvPr/>
        </p:nvSpPr>
        <p:spPr>
          <a:xfrm>
            <a:off x="788670" y="1994535"/>
            <a:ext cx="325183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기기의 기록을 본다</a:t>
            </a:r>
            <a:endParaRPr lang="en-US" sz="677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09" y="2308860"/>
            <a:ext cx="45720" cy="45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88670" y="2245995"/>
            <a:ext cx="101727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보호자 — 동거 가족</a:t>
            </a:r>
            <a:endParaRPr lang="en-US" sz="819" dirty="0"/>
          </a:p>
        </p:txBody>
      </p:sp>
      <p:sp>
        <p:nvSpPr>
          <p:cNvPr id="15" name="Text 8"/>
          <p:cNvSpPr/>
          <p:nvPr/>
        </p:nvSpPr>
        <p:spPr>
          <a:xfrm>
            <a:off x="788670" y="2440305"/>
            <a:ext cx="228600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동결이 언제 잦은지 알면 외출 시간대를 조정할 수 있다</a:t>
            </a:r>
            <a:endParaRPr lang="en-US" sz="677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" y="2834640"/>
            <a:ext cx="3771900" cy="13716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43450" y="1243013"/>
            <a:ext cx="3771900" cy="29622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00100" y="2960370"/>
            <a:ext cx="36004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페르소나</a:t>
            </a:r>
            <a:endParaRPr lang="en-US" sz="641" dirty="0"/>
          </a:p>
        </p:txBody>
      </p:sp>
      <p:sp>
        <p:nvSpPr>
          <p:cNvPr id="19" name="Text 10"/>
          <p:cNvSpPr/>
          <p:nvPr/>
        </p:nvSpPr>
        <p:spPr>
          <a:xfrm>
            <a:off x="800100" y="3143250"/>
            <a:ext cx="189166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926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김종하 (68) · 파킨슨 진단 7년차</a:t>
            </a:r>
            <a:endParaRPr lang="en-US" sz="926" dirty="0"/>
          </a:p>
        </p:txBody>
      </p:sp>
      <p:sp>
        <p:nvSpPr>
          <p:cNvPr id="20" name="Text 11"/>
          <p:cNvSpPr/>
          <p:nvPr/>
        </p:nvSpPr>
        <p:spPr>
          <a:xfrm>
            <a:off x="800100" y="3394710"/>
            <a:ext cx="3509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약효가 떨어지는 오후에 동결이 잦다. 거실 문턱과 화장실 입구에서 특히 심하다.</a:t>
            </a:r>
            <a:endParaRPr lang="en-US" sz="713" dirty="0"/>
          </a:p>
        </p:txBody>
      </p:sp>
      <p:sp>
        <p:nvSpPr>
          <p:cNvPr id="21" name="Text 12"/>
          <p:cNvSpPr/>
          <p:nvPr/>
        </p:nvSpPr>
        <p:spPr>
          <a:xfrm>
            <a:off x="800100" y="3566160"/>
            <a:ext cx="2731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 전 넘어져 손목이 부러진 뒤로 혼자 걷기를 피하게 됐다.</a:t>
            </a:r>
            <a:endParaRPr lang="en-US" sz="713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 r="97917"/>
          <a:stretch/>
        </p:blipFill>
        <p:spPr>
          <a:xfrm>
            <a:off x="800100" y="3920490"/>
            <a:ext cx="19050" cy="2057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25830" y="3954780"/>
            <a:ext cx="26346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“딸이 메트로놈 앱을 깔아줬는데, 시끄러워서 안 써요.”</a:t>
            </a:r>
            <a:endParaRPr lang="en-US" sz="784" dirty="0"/>
          </a:p>
        </p:txBody>
      </p:sp>
      <p:sp>
        <p:nvSpPr>
          <p:cNvPr id="24" name="Text 14"/>
          <p:cNvSpPr/>
          <p:nvPr/>
        </p:nvSpPr>
        <p:spPr>
          <a:xfrm>
            <a:off x="4800600" y="1360170"/>
            <a:ext cx="1628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김종하의 하루 — 동결이 일어난 시점</a:t>
            </a:r>
            <a:endParaRPr lang="en-US" sz="713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57750" y="2240280"/>
            <a:ext cx="3543300" cy="4763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692141" y="2023110"/>
            <a:ext cx="19050" cy="20574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63691" y="2023110"/>
            <a:ext cx="19050" cy="205740"/>
          </a:xfrm>
          <a:prstGeom prst="rect">
            <a:avLst/>
          </a:prstGeom>
        </p:spPr>
      </p:pic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35241" y="2023110"/>
            <a:ext cx="19050" cy="2057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4857750" y="2320290"/>
            <a:ext cx="2743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08:00</a:t>
            </a:r>
            <a:endParaRPr lang="en-US" sz="570" dirty="0"/>
          </a:p>
        </p:txBody>
      </p:sp>
      <p:sp>
        <p:nvSpPr>
          <p:cNvPr id="30" name="Text 16"/>
          <p:cNvSpPr/>
          <p:nvPr/>
        </p:nvSpPr>
        <p:spPr>
          <a:xfrm>
            <a:off x="5554980" y="2320290"/>
            <a:ext cx="2743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10:20</a:t>
            </a:r>
            <a:endParaRPr lang="en-US" sz="570" dirty="0"/>
          </a:p>
        </p:txBody>
      </p:sp>
      <p:sp>
        <p:nvSpPr>
          <p:cNvPr id="31" name="Text 17"/>
          <p:cNvSpPr/>
          <p:nvPr/>
        </p:nvSpPr>
        <p:spPr>
          <a:xfrm>
            <a:off x="6526530" y="2320290"/>
            <a:ext cx="2743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14:05</a:t>
            </a:r>
            <a:endParaRPr lang="en-US" sz="570" dirty="0"/>
          </a:p>
        </p:txBody>
      </p:sp>
      <p:sp>
        <p:nvSpPr>
          <p:cNvPr id="32" name="Text 18"/>
          <p:cNvSpPr/>
          <p:nvPr/>
        </p:nvSpPr>
        <p:spPr>
          <a:xfrm>
            <a:off x="7498080" y="2320290"/>
            <a:ext cx="2743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18:40</a:t>
            </a:r>
            <a:endParaRPr lang="en-US" sz="570" dirty="0"/>
          </a:p>
        </p:txBody>
      </p:sp>
      <p:sp>
        <p:nvSpPr>
          <p:cNvPr id="33" name="Text 19"/>
          <p:cNvSpPr/>
          <p:nvPr/>
        </p:nvSpPr>
        <p:spPr>
          <a:xfrm>
            <a:off x="8126730" y="2320290"/>
            <a:ext cx="27432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22:00</a:t>
            </a:r>
            <a:endParaRPr lang="en-US" sz="570" dirty="0"/>
          </a:p>
        </p:txBody>
      </p:sp>
      <p:sp>
        <p:nvSpPr>
          <p:cNvPr id="34" name="Text 20"/>
          <p:cNvSpPr/>
          <p:nvPr/>
        </p:nvSpPr>
        <p:spPr>
          <a:xfrm>
            <a:off x="4800600" y="1851660"/>
            <a:ext cx="68008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동결이 일어난 시점</a:t>
            </a:r>
            <a:endParaRPr lang="en-US" sz="570" dirty="0"/>
          </a:p>
        </p:txBody>
      </p:sp>
      <p:sp>
        <p:nvSpPr>
          <p:cNvPr id="35" name="Text 21"/>
          <p:cNvSpPr/>
          <p:nvPr/>
        </p:nvSpPr>
        <p:spPr>
          <a:xfrm>
            <a:off x="4800600" y="2743200"/>
            <a:ext cx="133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4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아침</a:t>
            </a: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에는 약이 들어 잘 걷는다.</a:t>
            </a:r>
            <a:endParaRPr lang="en-US" sz="1140" dirty="0"/>
          </a:p>
        </p:txBody>
      </p:sp>
      <p:sp>
        <p:nvSpPr>
          <p:cNvPr id="36" name="Text 22"/>
          <p:cNvSpPr/>
          <p:nvPr/>
        </p:nvSpPr>
        <p:spPr>
          <a:xfrm>
            <a:off x="4800600" y="3109913"/>
            <a:ext cx="1457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4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거실 문턱에서 발이 멈췄다.</a:t>
            </a:r>
            <a:endParaRPr lang="en-US" sz="1140" dirty="0"/>
          </a:p>
        </p:txBody>
      </p:sp>
      <p:sp>
        <p:nvSpPr>
          <p:cNvPr id="37" name="Text 23"/>
          <p:cNvSpPr/>
          <p:nvPr/>
        </p:nvSpPr>
        <p:spPr>
          <a:xfrm>
            <a:off x="4800600" y="3476625"/>
            <a:ext cx="22802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4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에는 약효가 떨어져 화장실 입구에서 또 멈췄다.</a:t>
            </a:r>
            <a:endParaRPr lang="en-US" sz="1140" dirty="0"/>
          </a:p>
        </p:txBody>
      </p:sp>
      <p:sp>
        <p:nvSpPr>
          <p:cNvPr id="38" name="Text 24"/>
          <p:cNvSpPr/>
          <p:nvPr/>
        </p:nvSpPr>
        <p:spPr>
          <a:xfrm>
            <a:off x="4800600" y="3843338"/>
            <a:ext cx="28003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40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r>
              <a:rPr lang="en-US" sz="713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몸을 돌리다 멈췄고, 손목을 다친 뒤로 혼자 나가지 않는다.</a:t>
            </a:r>
            <a:endParaRPr lang="en-US" sz="114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4E7623FB-B3EA-27EA-ED90-2860A4293999}"/>
              </a:ext>
            </a:extLst>
          </p:cNvPr>
          <p:cNvSpPr/>
          <p:nvPr/>
        </p:nvSpPr>
        <p:spPr>
          <a:xfrm>
            <a:off x="2854642" y="2681287"/>
            <a:ext cx="26346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ko-KR" altLang="en-US" sz="784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조사 필요</a:t>
            </a:r>
            <a:endParaRPr lang="en-US" sz="784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46863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 이유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28650" y="65151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박자를 들려주면 굳은 다리가 풀린다</a:t>
            </a:r>
            <a:endParaRPr lang="en-US" sz="192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1" y="1417320"/>
            <a:ext cx="45720" cy="4572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1" y="1863090"/>
            <a:ext cx="45720" cy="4572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1" y="2308860"/>
            <a:ext cx="45720" cy="4572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941" y="2754630"/>
            <a:ext cx="45720" cy="457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11530" y="1348740"/>
            <a:ext cx="266319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규칙적인 박자를 들려주면 얼어붙은 다리가 풀린다</a:t>
            </a:r>
            <a:endParaRPr lang="en-US" sz="855" dirty="0"/>
          </a:p>
        </p:txBody>
      </p:sp>
      <p:sp>
        <p:nvSpPr>
          <p:cNvPr id="12" name="Text 4"/>
          <p:cNvSpPr/>
          <p:nvPr/>
        </p:nvSpPr>
        <p:spPr>
          <a:xfrm>
            <a:off x="809625" y="1795463"/>
            <a:ext cx="32480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박자에 발을 맞추면 막힌 보행 명령이 기저핵이 아닌 다른 경로로 나간다</a:t>
            </a:r>
            <a:endParaRPr lang="en-US" sz="855" dirty="0"/>
          </a:p>
        </p:txBody>
      </p:sp>
      <p:sp>
        <p:nvSpPr>
          <p:cNvPr id="13" name="Text 5"/>
          <p:cNvSpPr/>
          <p:nvPr/>
        </p:nvSpPr>
        <p:spPr>
          <a:xfrm>
            <a:off x="811530" y="2240280"/>
            <a:ext cx="30403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메트로놈 소리, 박자가 뚜렷한 음악, 구령을 자극으로 쓴다</a:t>
            </a:r>
            <a:endParaRPr lang="en-US" sz="855" dirty="0"/>
          </a:p>
        </p:txBody>
      </p:sp>
      <p:sp>
        <p:nvSpPr>
          <p:cNvPr id="14" name="Text 6"/>
          <p:cNvSpPr/>
          <p:nvPr/>
        </p:nvSpPr>
        <p:spPr>
          <a:xfrm>
            <a:off x="811530" y="2686050"/>
            <a:ext cx="389191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 속도와 보폭은 개선되지만 케이던스(딛는 횟수)는 올라가지 않는다</a:t>
            </a:r>
            <a:endParaRPr lang="en-US" sz="855" dirty="0"/>
          </a:p>
        </p:txBody>
      </p:sp>
      <p:sp>
        <p:nvSpPr>
          <p:cNvPr id="15" name="Text 7"/>
          <p:cNvSpPr/>
          <p:nvPr/>
        </p:nvSpPr>
        <p:spPr>
          <a:xfrm>
            <a:off x="811530" y="1554480"/>
            <a:ext cx="29946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리듬 청각 자극(RAS)이라 하며, 신경학적 음악치료의 정식 기법이다</a:t>
            </a:r>
            <a:endParaRPr lang="en-US" sz="713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" y="3172778"/>
            <a:ext cx="19050" cy="90297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77241" y="3207068"/>
            <a:ext cx="6457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주제인가</a:t>
            </a:r>
            <a:endParaRPr lang="en-US" sz="713" dirty="0"/>
          </a:p>
        </p:txBody>
      </p:sp>
      <p:sp>
        <p:nvSpPr>
          <p:cNvPr id="18" name="Text 9"/>
          <p:cNvSpPr/>
          <p:nvPr/>
        </p:nvSpPr>
        <p:spPr>
          <a:xfrm>
            <a:off x="777241" y="3424238"/>
            <a:ext cx="336613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926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효과는 입증됐지만 계속 켜두는 방식이라 오래 쓰기 어렵다.</a:t>
            </a:r>
            <a:endParaRPr lang="en-US" sz="926" dirty="0"/>
          </a:p>
        </p:txBody>
      </p:sp>
      <p:sp>
        <p:nvSpPr>
          <p:cNvPr id="19" name="Text 10"/>
          <p:cNvSpPr/>
          <p:nvPr/>
        </p:nvSpPr>
        <p:spPr>
          <a:xfrm>
            <a:off x="777241" y="3641407"/>
            <a:ext cx="223456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926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켜느냐의 문제</a:t>
            </a:r>
            <a:endParaRPr lang="en-US" sz="926" dirty="0"/>
          </a:p>
        </p:txBody>
      </p:sp>
      <p:sp>
        <p:nvSpPr>
          <p:cNvPr id="20" name="Text 11"/>
          <p:cNvSpPr/>
          <p:nvPr/>
        </p:nvSpPr>
        <p:spPr>
          <a:xfrm>
            <a:off x="4800600" y="1419225"/>
            <a:ext cx="28908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리듬 청각 자극(RAS) 효과크기 — 209명 [2]</a:t>
            </a:r>
            <a:endParaRPr lang="en-US" sz="114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14950" y="2971800"/>
            <a:ext cx="3086100" cy="4763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14950" y="2400300"/>
            <a:ext cx="3086100" cy="476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06366" y="3491865"/>
            <a:ext cx="51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499" dirty="0"/>
          </a:p>
        </p:txBody>
      </p:sp>
      <p:sp>
        <p:nvSpPr>
          <p:cNvPr id="24" name="Text 13"/>
          <p:cNvSpPr/>
          <p:nvPr/>
        </p:nvSpPr>
        <p:spPr>
          <a:xfrm>
            <a:off x="5063491" y="2920365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0.25</a:t>
            </a:r>
            <a:endParaRPr lang="en-US" sz="499" dirty="0"/>
          </a:p>
        </p:txBody>
      </p:sp>
      <p:sp>
        <p:nvSpPr>
          <p:cNvPr id="25" name="Text 14"/>
          <p:cNvSpPr/>
          <p:nvPr/>
        </p:nvSpPr>
        <p:spPr>
          <a:xfrm>
            <a:off x="5063491" y="2348865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0.50</a:t>
            </a:r>
            <a:endParaRPr lang="en-US" sz="499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572125" y="2331720"/>
            <a:ext cx="628650" cy="121158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43675" y="2377440"/>
            <a:ext cx="628650" cy="116586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549516" y="3303270"/>
            <a:ext cx="56007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641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유의하지 않음</a:t>
            </a:r>
            <a:endParaRPr lang="en-US" sz="641" dirty="0"/>
          </a:p>
        </p:txBody>
      </p:sp>
      <p:sp>
        <p:nvSpPr>
          <p:cNvPr id="29" name="Text 16"/>
          <p:cNvSpPr/>
          <p:nvPr/>
        </p:nvSpPr>
        <p:spPr>
          <a:xfrm>
            <a:off x="7660956" y="3188970"/>
            <a:ext cx="3371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P=0.635</a:t>
            </a:r>
            <a:endParaRPr lang="en-US" sz="499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14950" y="3543300"/>
            <a:ext cx="3086100" cy="9525"/>
          </a:xfrm>
          <a:prstGeom prst="rect">
            <a:avLst/>
          </a:prstGeom>
        </p:spPr>
      </p:pic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78116" y="3491865"/>
            <a:ext cx="112393" cy="112395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720716" y="2103120"/>
            <a:ext cx="33147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1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0.53</a:t>
            </a:r>
            <a:endParaRPr lang="en-US" sz="855" dirty="0"/>
          </a:p>
        </p:txBody>
      </p:sp>
      <p:sp>
        <p:nvSpPr>
          <p:cNvPr id="33" name="Text 18"/>
          <p:cNvSpPr/>
          <p:nvPr/>
        </p:nvSpPr>
        <p:spPr>
          <a:xfrm>
            <a:off x="6692266" y="2148840"/>
            <a:ext cx="33147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1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0.51</a:t>
            </a:r>
            <a:endParaRPr lang="en-US" sz="855" dirty="0"/>
          </a:p>
        </p:txBody>
      </p:sp>
      <p:sp>
        <p:nvSpPr>
          <p:cNvPr id="34" name="Text 19"/>
          <p:cNvSpPr/>
          <p:nvPr/>
        </p:nvSpPr>
        <p:spPr>
          <a:xfrm>
            <a:off x="5703570" y="3606165"/>
            <a:ext cx="365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 속도</a:t>
            </a:r>
            <a:endParaRPr lang="en-US" sz="606" dirty="0"/>
          </a:p>
        </p:txBody>
      </p:sp>
      <p:sp>
        <p:nvSpPr>
          <p:cNvPr id="35" name="Text 20"/>
          <p:cNvSpPr/>
          <p:nvPr/>
        </p:nvSpPr>
        <p:spPr>
          <a:xfrm>
            <a:off x="6772275" y="3606165"/>
            <a:ext cx="1714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보폭</a:t>
            </a:r>
            <a:endParaRPr lang="en-US" sz="606" dirty="0"/>
          </a:p>
        </p:txBody>
      </p:sp>
      <p:sp>
        <p:nvSpPr>
          <p:cNvPr id="36" name="Text 21"/>
          <p:cNvSpPr/>
          <p:nvPr/>
        </p:nvSpPr>
        <p:spPr>
          <a:xfrm>
            <a:off x="7660960" y="3606165"/>
            <a:ext cx="3371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3"/>
              </a:lnSpc>
              <a:buNone/>
            </a:pPr>
            <a:r>
              <a:rPr lang="en-US" sz="60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케이던스</a:t>
            </a:r>
            <a:endParaRPr lang="en-US" sz="606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28650" y="4514850"/>
            <a:ext cx="30918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 Arch Phys Med Rehabil, 2021 (메타분석 5편 · 209명)</a:t>
            </a:r>
            <a:endParaRPr lang="en-US" sz="499" dirty="0"/>
          </a:p>
        </p:txBody>
      </p:sp>
      <p:sp>
        <p:nvSpPr>
          <p:cNvPr id="39" name="Text 23"/>
          <p:cNvSpPr/>
          <p:nvPr/>
        </p:nvSpPr>
        <p:spPr>
          <a:xfrm>
            <a:off x="628650" y="4640580"/>
            <a:ext cx="28403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[6] Frontiers in Neurology, 2022 (케이던스 WMD 1.57, P=0.635)</a:t>
            </a:r>
            <a:endParaRPr lang="en-US" sz="49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3525" y="2990850"/>
            <a:ext cx="2286000" cy="13192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68630"/>
            <a:ext cx="822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628650" y="651510"/>
            <a:ext cx="43605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울리면 익숙해져서 안 듣게 된다</a:t>
            </a:r>
            <a:endParaRPr lang="en-US" sz="192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r="2"/>
          <a:stretch/>
        </p:blipFill>
        <p:spPr>
          <a:xfrm>
            <a:off x="637222" y="1460182"/>
            <a:ext cx="51434" cy="514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8668" y="1394460"/>
            <a:ext cx="18859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소리는 그대로인데 반응이 줄어든다</a:t>
            </a:r>
            <a:endParaRPr lang="en-US" sz="855" dirty="0"/>
          </a:p>
        </p:txBody>
      </p:sp>
      <p:sp>
        <p:nvSpPr>
          <p:cNvPr id="8" name="Text 3"/>
          <p:cNvSpPr/>
          <p:nvPr/>
        </p:nvSpPr>
        <p:spPr>
          <a:xfrm>
            <a:off x="788668" y="1594485"/>
            <a:ext cx="212598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오래 쓸수록 같은 자극에 둔해진다 </a:t>
            </a:r>
            <a:endParaRPr lang="en-US" sz="677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r="2"/>
          <a:stretch/>
        </p:blipFill>
        <p:spPr>
          <a:xfrm>
            <a:off x="637222" y="1905953"/>
            <a:ext cx="51434" cy="514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88668" y="1840230"/>
            <a:ext cx="129159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데도 주의력이 든다</a:t>
            </a:r>
            <a:endParaRPr lang="en-US" sz="855" dirty="0"/>
          </a:p>
        </p:txBody>
      </p:sp>
      <p:sp>
        <p:nvSpPr>
          <p:cNvPr id="11" name="Text 5"/>
          <p:cNvSpPr/>
          <p:nvPr/>
        </p:nvSpPr>
        <p:spPr>
          <a:xfrm>
            <a:off x="788668" y="2040255"/>
            <a:ext cx="199453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박자에 계속 맞추느라 인지 부하가 늘어난다 [3]</a:t>
            </a:r>
            <a:endParaRPr lang="en-US" sz="677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 r="2"/>
          <a:stretch/>
        </p:blipFill>
        <p:spPr>
          <a:xfrm>
            <a:off x="637222" y="2304097"/>
            <a:ext cx="51434" cy="514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90575" y="2243138"/>
            <a:ext cx="16802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상용 제품은 동결을 보지 않는다</a:t>
            </a:r>
            <a:endParaRPr lang="en-US" sz="855" dirty="0"/>
          </a:p>
        </p:txBody>
      </p:sp>
      <p:sp>
        <p:nvSpPr>
          <p:cNvPr id="14" name="Text 7"/>
          <p:cNvSpPr/>
          <p:nvPr/>
        </p:nvSpPr>
        <p:spPr>
          <a:xfrm>
            <a:off x="790575" y="2443163"/>
            <a:ext cx="30575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Path Finder는 걸음마다 레이저를 쏘고, 메트로놈 앱은 끌 때까지 울린다</a:t>
            </a:r>
            <a:endParaRPr lang="en-US" sz="677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r="2"/>
          <a:stretch/>
        </p:blipFill>
        <p:spPr>
          <a:xfrm>
            <a:off x="637222" y="2797493"/>
            <a:ext cx="51434" cy="5143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88668" y="2731770"/>
            <a:ext cx="206883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검출해서 켜는 방식은 아직 연구 단계다[5]</a:t>
            </a:r>
            <a:endParaRPr lang="en-US" sz="855" dirty="0"/>
          </a:p>
        </p:txBody>
      </p:sp>
      <p:sp>
        <p:nvSpPr>
          <p:cNvPr id="17" name="Text 9"/>
          <p:cNvSpPr/>
          <p:nvPr/>
        </p:nvSpPr>
        <p:spPr>
          <a:xfrm>
            <a:off x="4710113" y="3633788"/>
            <a:ext cx="275272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메트로놈은 20분 내내 울리고 있지만,</a:t>
            </a:r>
            <a:endParaRPr lang="en-US" sz="1283" dirty="0"/>
          </a:p>
        </p:txBody>
      </p:sp>
      <p:sp>
        <p:nvSpPr>
          <p:cNvPr id="18" name="Text 10"/>
          <p:cNvSpPr/>
          <p:nvPr/>
        </p:nvSpPr>
        <p:spPr>
          <a:xfrm>
            <a:off x="4710113" y="3919537"/>
            <a:ext cx="250031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환자의 반응은 사라진다.</a:t>
            </a:r>
            <a:endParaRPr lang="en-US" sz="1283" dirty="0"/>
          </a:p>
        </p:txBody>
      </p:sp>
      <p:sp>
        <p:nvSpPr>
          <p:cNvPr id="19" name="Text 11"/>
          <p:cNvSpPr/>
          <p:nvPr/>
        </p:nvSpPr>
        <p:spPr>
          <a:xfrm>
            <a:off x="4857750" y="1322070"/>
            <a:ext cx="13773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 보행 세션 — 소리와 반응</a:t>
            </a:r>
            <a:endParaRPr lang="en-US" sz="713" dirty="0"/>
          </a:p>
        </p:txBody>
      </p:sp>
      <p:sp>
        <p:nvSpPr>
          <p:cNvPr id="20" name="Text 12"/>
          <p:cNvSpPr/>
          <p:nvPr/>
        </p:nvSpPr>
        <p:spPr>
          <a:xfrm>
            <a:off x="4857750" y="1522095"/>
            <a:ext cx="4686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534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메트로놈 소리</a:t>
            </a:r>
            <a:endParaRPr lang="en-US" sz="534" dirty="0"/>
          </a:p>
        </p:txBody>
      </p:sp>
      <p:sp>
        <p:nvSpPr>
          <p:cNvPr id="21" name="Text 13"/>
          <p:cNvSpPr/>
          <p:nvPr/>
        </p:nvSpPr>
        <p:spPr>
          <a:xfrm>
            <a:off x="7840982" y="1527810"/>
            <a:ext cx="5600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20분 내내 켜짐</a:t>
            </a:r>
            <a:endParaRPr lang="en-US" sz="499" dirty="0"/>
          </a:p>
        </p:txBody>
      </p:sp>
      <p:sp>
        <p:nvSpPr>
          <p:cNvPr id="22" name="Text 14"/>
          <p:cNvSpPr/>
          <p:nvPr/>
        </p:nvSpPr>
        <p:spPr>
          <a:xfrm>
            <a:off x="4857750" y="2070735"/>
            <a:ext cx="3943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534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환자의 반응</a:t>
            </a:r>
            <a:endParaRPr lang="en-US" sz="534" dirty="0"/>
          </a:p>
        </p:txBody>
      </p:sp>
      <p:sp>
        <p:nvSpPr>
          <p:cNvPr id="23" name="Text 15"/>
          <p:cNvSpPr/>
          <p:nvPr/>
        </p:nvSpPr>
        <p:spPr>
          <a:xfrm>
            <a:off x="8349616" y="2076450"/>
            <a:ext cx="51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499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57750" y="1664970"/>
            <a:ext cx="3543300" cy="2514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63441" y="2167890"/>
            <a:ext cx="13716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02"/>
              </a:lnSpc>
              <a:buNone/>
            </a:pPr>
            <a:r>
              <a:rPr lang="en-US" sz="46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463" dirty="0"/>
          </a:p>
        </p:txBody>
      </p:sp>
      <p:sp>
        <p:nvSpPr>
          <p:cNvPr id="26" name="Text 17"/>
          <p:cNvSpPr/>
          <p:nvPr/>
        </p:nvSpPr>
        <p:spPr>
          <a:xfrm>
            <a:off x="4709159" y="2453640"/>
            <a:ext cx="9144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02"/>
              </a:lnSpc>
              <a:buNone/>
            </a:pPr>
            <a:r>
              <a:rPr lang="en-US" sz="46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463" dirty="0"/>
          </a:p>
        </p:txBody>
      </p:sp>
      <p:sp>
        <p:nvSpPr>
          <p:cNvPr id="27" name="Text 18"/>
          <p:cNvSpPr/>
          <p:nvPr/>
        </p:nvSpPr>
        <p:spPr>
          <a:xfrm>
            <a:off x="4754882" y="2739390"/>
            <a:ext cx="4572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02"/>
              </a:lnSpc>
              <a:buNone/>
            </a:pPr>
            <a:r>
              <a:rPr lang="en-US" sz="46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463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57750" y="2499360"/>
            <a:ext cx="3543300" cy="4763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4857750" y="1699260"/>
            <a:ext cx="9525" cy="21717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4937759" y="1699260"/>
            <a:ext cx="9525" cy="217170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017768" y="1699260"/>
            <a:ext cx="9525" cy="217170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097782" y="1699260"/>
            <a:ext cx="9525" cy="217170"/>
          </a:xfrm>
          <a:prstGeom prst="rect">
            <a:avLst/>
          </a:prstGeom>
        </p:spPr>
      </p:pic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177791" y="1699260"/>
            <a:ext cx="9525" cy="21717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257800" y="1699260"/>
            <a:ext cx="9525" cy="217170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337809" y="1699260"/>
            <a:ext cx="9525" cy="217170"/>
          </a:xfrm>
          <a:prstGeom prst="rect">
            <a:avLst/>
          </a:prstGeom>
        </p:spPr>
      </p:pic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417818" y="1699260"/>
            <a:ext cx="9525" cy="217170"/>
          </a:xfrm>
          <a:prstGeom prst="rect">
            <a:avLst/>
          </a:prstGeom>
        </p:spPr>
      </p:pic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497832" y="1699260"/>
            <a:ext cx="9525" cy="217170"/>
          </a:xfrm>
          <a:prstGeom prst="rect">
            <a:avLst/>
          </a:prstGeom>
        </p:spPr>
      </p:pic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577841" y="1699260"/>
            <a:ext cx="9525" cy="217170"/>
          </a:xfrm>
          <a:prstGeom prst="rect">
            <a:avLst/>
          </a:prstGeom>
        </p:spPr>
      </p:pic>
      <p:pic>
        <p:nvPicPr>
          <p:cNvPr id="39" name="Image 18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657850" y="1699260"/>
            <a:ext cx="9525" cy="217170"/>
          </a:xfrm>
          <a:prstGeom prst="rect">
            <a:avLst/>
          </a:prstGeom>
        </p:spPr>
      </p:pic>
      <p:pic>
        <p:nvPicPr>
          <p:cNvPr id="40" name="Image 19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737859" y="1699260"/>
            <a:ext cx="9525" cy="217170"/>
          </a:xfrm>
          <a:prstGeom prst="rect">
            <a:avLst/>
          </a:prstGeom>
        </p:spPr>
      </p:pic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817868" y="1699260"/>
            <a:ext cx="9525" cy="217170"/>
          </a:xfrm>
          <a:prstGeom prst="rect">
            <a:avLst/>
          </a:prstGeom>
        </p:spPr>
      </p:pic>
      <p:pic>
        <p:nvPicPr>
          <p:cNvPr id="42" name="Image 21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897882" y="1699260"/>
            <a:ext cx="9525" cy="217170"/>
          </a:xfrm>
          <a:prstGeom prst="rect">
            <a:avLst/>
          </a:prstGeom>
        </p:spPr>
      </p:pic>
      <p:pic>
        <p:nvPicPr>
          <p:cNvPr id="43" name="Image 22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5977891" y="1699260"/>
            <a:ext cx="9525" cy="217170"/>
          </a:xfrm>
          <a:prstGeom prst="rect">
            <a:avLst/>
          </a:prstGeom>
        </p:spPr>
      </p:pic>
      <p:pic>
        <p:nvPicPr>
          <p:cNvPr id="44" name="Image 23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057900" y="1699260"/>
            <a:ext cx="9525" cy="217170"/>
          </a:xfrm>
          <a:prstGeom prst="rect">
            <a:avLst/>
          </a:prstGeom>
        </p:spPr>
      </p:pic>
      <p:pic>
        <p:nvPicPr>
          <p:cNvPr id="45" name="Image 24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137909" y="1699260"/>
            <a:ext cx="9525" cy="217170"/>
          </a:xfrm>
          <a:prstGeom prst="rect">
            <a:avLst/>
          </a:prstGeom>
        </p:spPr>
      </p:pic>
      <p:pic>
        <p:nvPicPr>
          <p:cNvPr id="46" name="Image 25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217918" y="1699260"/>
            <a:ext cx="9525" cy="217170"/>
          </a:xfrm>
          <a:prstGeom prst="rect">
            <a:avLst/>
          </a:prstGeom>
        </p:spPr>
      </p:pic>
      <p:pic>
        <p:nvPicPr>
          <p:cNvPr id="47" name="Image 26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297932" y="1699260"/>
            <a:ext cx="9525" cy="217170"/>
          </a:xfrm>
          <a:prstGeom prst="rect">
            <a:avLst/>
          </a:prstGeom>
        </p:spPr>
      </p:pic>
      <p:pic>
        <p:nvPicPr>
          <p:cNvPr id="48" name="Image 27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377941" y="1699260"/>
            <a:ext cx="9525" cy="217170"/>
          </a:xfrm>
          <a:prstGeom prst="rect">
            <a:avLst/>
          </a:prstGeom>
        </p:spPr>
      </p:pic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457950" y="1699260"/>
            <a:ext cx="9525" cy="217170"/>
          </a:xfrm>
          <a:prstGeom prst="rect">
            <a:avLst/>
          </a:prstGeom>
        </p:spPr>
      </p:pic>
      <p:pic>
        <p:nvPicPr>
          <p:cNvPr id="50" name="Image 29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537959" y="1699260"/>
            <a:ext cx="9525" cy="217170"/>
          </a:xfrm>
          <a:prstGeom prst="rect">
            <a:avLst/>
          </a:prstGeom>
        </p:spPr>
      </p:pic>
      <p:pic>
        <p:nvPicPr>
          <p:cNvPr id="51" name="Image 30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617968" y="1699260"/>
            <a:ext cx="9525" cy="217170"/>
          </a:xfrm>
          <a:prstGeom prst="rect">
            <a:avLst/>
          </a:prstGeom>
        </p:spPr>
      </p:pic>
      <p:pic>
        <p:nvPicPr>
          <p:cNvPr id="52" name="Image 31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697982" y="1699260"/>
            <a:ext cx="9525" cy="217170"/>
          </a:xfrm>
          <a:prstGeom prst="rect">
            <a:avLst/>
          </a:prstGeom>
        </p:spPr>
      </p:pic>
      <p:pic>
        <p:nvPicPr>
          <p:cNvPr id="53" name="Image 32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777991" y="1699260"/>
            <a:ext cx="9525" cy="217170"/>
          </a:xfrm>
          <a:prstGeom prst="rect">
            <a:avLst/>
          </a:prstGeom>
        </p:spPr>
      </p:pic>
      <p:pic>
        <p:nvPicPr>
          <p:cNvPr id="54" name="Image 33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858000" y="1699260"/>
            <a:ext cx="9525" cy="217170"/>
          </a:xfrm>
          <a:prstGeom prst="rect">
            <a:avLst/>
          </a:prstGeom>
        </p:spPr>
      </p:pic>
      <p:pic>
        <p:nvPicPr>
          <p:cNvPr id="55" name="Image 34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6938009" y="1699260"/>
            <a:ext cx="9525" cy="217170"/>
          </a:xfrm>
          <a:prstGeom prst="rect">
            <a:avLst/>
          </a:prstGeom>
        </p:spPr>
      </p:pic>
      <p:pic>
        <p:nvPicPr>
          <p:cNvPr id="56" name="Image 35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018018" y="1699260"/>
            <a:ext cx="9525" cy="217170"/>
          </a:xfrm>
          <a:prstGeom prst="rect">
            <a:avLst/>
          </a:prstGeom>
        </p:spPr>
      </p:pic>
      <p:pic>
        <p:nvPicPr>
          <p:cNvPr id="57" name="Image 36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098032" y="1699260"/>
            <a:ext cx="9525" cy="217170"/>
          </a:xfrm>
          <a:prstGeom prst="rect">
            <a:avLst/>
          </a:prstGeom>
        </p:spPr>
      </p:pic>
      <p:pic>
        <p:nvPicPr>
          <p:cNvPr id="58" name="Image 37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178041" y="1699260"/>
            <a:ext cx="9525" cy="217170"/>
          </a:xfrm>
          <a:prstGeom prst="rect">
            <a:avLst/>
          </a:prstGeom>
        </p:spPr>
      </p:pic>
      <p:pic>
        <p:nvPicPr>
          <p:cNvPr id="59" name="Image 38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258050" y="1699260"/>
            <a:ext cx="9525" cy="217170"/>
          </a:xfrm>
          <a:prstGeom prst="rect">
            <a:avLst/>
          </a:prstGeom>
        </p:spPr>
      </p:pic>
      <p:pic>
        <p:nvPicPr>
          <p:cNvPr id="60" name="Image 39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338059" y="1699260"/>
            <a:ext cx="9525" cy="217170"/>
          </a:xfrm>
          <a:prstGeom prst="rect">
            <a:avLst/>
          </a:prstGeom>
        </p:spPr>
      </p:pic>
      <p:pic>
        <p:nvPicPr>
          <p:cNvPr id="61" name="Image 40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418068" y="1699260"/>
            <a:ext cx="9525" cy="217170"/>
          </a:xfrm>
          <a:prstGeom prst="rect">
            <a:avLst/>
          </a:prstGeom>
        </p:spPr>
      </p:pic>
      <p:pic>
        <p:nvPicPr>
          <p:cNvPr id="62" name="Image 41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498082" y="1699260"/>
            <a:ext cx="9525" cy="217170"/>
          </a:xfrm>
          <a:prstGeom prst="rect">
            <a:avLst/>
          </a:prstGeom>
        </p:spPr>
      </p:pic>
      <p:pic>
        <p:nvPicPr>
          <p:cNvPr id="63" name="Image 42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578091" y="1699260"/>
            <a:ext cx="9525" cy="217170"/>
          </a:xfrm>
          <a:prstGeom prst="rect">
            <a:avLst/>
          </a:prstGeom>
        </p:spPr>
      </p:pic>
      <p:pic>
        <p:nvPicPr>
          <p:cNvPr id="64" name="Image 43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658100" y="1699260"/>
            <a:ext cx="9525" cy="217170"/>
          </a:xfrm>
          <a:prstGeom prst="rect">
            <a:avLst/>
          </a:prstGeom>
        </p:spPr>
      </p:pic>
      <p:pic>
        <p:nvPicPr>
          <p:cNvPr id="65" name="Image 44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738109" y="1699260"/>
            <a:ext cx="9525" cy="217170"/>
          </a:xfrm>
          <a:prstGeom prst="rect">
            <a:avLst/>
          </a:prstGeom>
        </p:spPr>
      </p:pic>
      <p:pic>
        <p:nvPicPr>
          <p:cNvPr id="66" name="Image 45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818118" y="1699260"/>
            <a:ext cx="9525" cy="217170"/>
          </a:xfrm>
          <a:prstGeom prst="rect">
            <a:avLst/>
          </a:prstGeom>
        </p:spPr>
      </p:pic>
      <p:pic>
        <p:nvPicPr>
          <p:cNvPr id="67" name="Image 46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898132" y="1699260"/>
            <a:ext cx="9525" cy="217170"/>
          </a:xfrm>
          <a:prstGeom prst="rect">
            <a:avLst/>
          </a:prstGeom>
        </p:spPr>
      </p:pic>
      <p:pic>
        <p:nvPicPr>
          <p:cNvPr id="68" name="Image 47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7978141" y="1699260"/>
            <a:ext cx="9525" cy="217170"/>
          </a:xfrm>
          <a:prstGeom prst="rect">
            <a:avLst/>
          </a:prstGeom>
        </p:spPr>
      </p:pic>
      <p:pic>
        <p:nvPicPr>
          <p:cNvPr id="69" name="Image 48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8058150" y="1699260"/>
            <a:ext cx="9525" cy="217170"/>
          </a:xfrm>
          <a:prstGeom prst="rect">
            <a:avLst/>
          </a:prstGeom>
        </p:spPr>
      </p:pic>
      <p:pic>
        <p:nvPicPr>
          <p:cNvPr id="70" name="Image 49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8138159" y="1699260"/>
            <a:ext cx="9525" cy="217170"/>
          </a:xfrm>
          <a:prstGeom prst="rect">
            <a:avLst/>
          </a:prstGeom>
        </p:spPr>
      </p:pic>
      <p:pic>
        <p:nvPicPr>
          <p:cNvPr id="71" name="Image 50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8218168" y="1699260"/>
            <a:ext cx="9525" cy="217170"/>
          </a:xfrm>
          <a:prstGeom prst="rect">
            <a:avLst/>
          </a:prstGeom>
        </p:spPr>
      </p:pic>
      <p:pic>
        <p:nvPicPr>
          <p:cNvPr id="72" name="Image 51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8298182" y="1699260"/>
            <a:ext cx="9525" cy="217170"/>
          </a:xfrm>
          <a:prstGeom prst="rect">
            <a:avLst/>
          </a:prstGeom>
        </p:spPr>
      </p:pic>
      <p:pic>
        <p:nvPicPr>
          <p:cNvPr id="73" name="Image 52" descr="preencoded.png"/>
          <p:cNvPicPr>
            <a:picLocks noChangeAspect="1"/>
          </p:cNvPicPr>
          <p:nvPr/>
        </p:nvPicPr>
        <p:blipFill>
          <a:blip r:embed="rId8"/>
          <a:srcRect r="98958"/>
          <a:stretch/>
        </p:blipFill>
        <p:spPr>
          <a:xfrm>
            <a:off x="8378191" y="1699260"/>
            <a:ext cx="9525" cy="217170"/>
          </a:xfrm>
          <a:prstGeom prst="rect">
            <a:avLst/>
          </a:prstGeom>
        </p:spPr>
      </p:pic>
      <p:pic>
        <p:nvPicPr>
          <p:cNvPr id="74" name="Image 5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57750" y="2213610"/>
            <a:ext cx="633026" cy="571500"/>
          </a:xfrm>
          <a:prstGeom prst="rect">
            <a:avLst/>
          </a:prstGeom>
        </p:spPr>
      </p:pic>
      <p:pic>
        <p:nvPicPr>
          <p:cNvPr id="75" name="Image 5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90772" y="2613660"/>
            <a:ext cx="2910278" cy="171450"/>
          </a:xfrm>
          <a:prstGeom prst="rect">
            <a:avLst/>
          </a:prstGeom>
        </p:spPr>
      </p:pic>
      <p:pic>
        <p:nvPicPr>
          <p:cNvPr id="76" name="Image 5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57750" y="2213610"/>
            <a:ext cx="3547588" cy="581013"/>
          </a:xfrm>
          <a:prstGeom prst="rect">
            <a:avLst/>
          </a:prstGeom>
        </p:spPr>
      </p:pic>
      <p:pic>
        <p:nvPicPr>
          <p:cNvPr id="77" name="Image 5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492116" y="2213610"/>
            <a:ext cx="4763" cy="571500"/>
          </a:xfrm>
          <a:prstGeom prst="rect">
            <a:avLst/>
          </a:prstGeom>
        </p:spPr>
      </p:pic>
      <p:sp>
        <p:nvSpPr>
          <p:cNvPr id="78" name="Text 19"/>
          <p:cNvSpPr/>
          <p:nvPr/>
        </p:nvSpPr>
        <p:spPr>
          <a:xfrm>
            <a:off x="5537834" y="2242185"/>
            <a:ext cx="1022985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2"/>
              </a:lnSpc>
              <a:buNone/>
            </a:pPr>
            <a:r>
              <a:rPr lang="en-US" sz="46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반응은 사라지고 소리만 남는다</a:t>
            </a:r>
            <a:endParaRPr lang="en-US" sz="463" dirty="0"/>
          </a:p>
        </p:txBody>
      </p:sp>
      <p:pic>
        <p:nvPicPr>
          <p:cNvPr id="79" name="Image 5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57750" y="1916430"/>
            <a:ext cx="3543300" cy="4763"/>
          </a:xfrm>
          <a:prstGeom prst="rect">
            <a:avLst/>
          </a:prstGeom>
        </p:spPr>
      </p:pic>
      <p:pic>
        <p:nvPicPr>
          <p:cNvPr id="80" name="Image 58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857750" y="2785110"/>
            <a:ext cx="3543300" cy="7144"/>
          </a:xfrm>
          <a:prstGeom prst="rect">
            <a:avLst/>
          </a:prstGeom>
        </p:spPr>
      </p:pic>
      <p:pic>
        <p:nvPicPr>
          <p:cNvPr id="81" name="Image 5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857750" y="2785110"/>
            <a:ext cx="4763" cy="40005"/>
          </a:xfrm>
          <a:prstGeom prst="rect">
            <a:avLst/>
          </a:prstGeom>
        </p:spPr>
      </p:pic>
      <p:pic>
        <p:nvPicPr>
          <p:cNvPr id="82" name="Image 6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743575" y="2785110"/>
            <a:ext cx="4763" cy="40005"/>
          </a:xfrm>
          <a:prstGeom prst="rect">
            <a:avLst/>
          </a:prstGeom>
        </p:spPr>
      </p:pic>
      <p:pic>
        <p:nvPicPr>
          <p:cNvPr id="83" name="Image 6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629400" y="2785110"/>
            <a:ext cx="4763" cy="40005"/>
          </a:xfrm>
          <a:prstGeom prst="rect">
            <a:avLst/>
          </a:prstGeom>
        </p:spPr>
      </p:pic>
      <p:pic>
        <p:nvPicPr>
          <p:cNvPr id="84" name="Image 6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15225" y="2785110"/>
            <a:ext cx="4763" cy="40005"/>
          </a:xfrm>
          <a:prstGeom prst="rect">
            <a:avLst/>
          </a:prstGeom>
        </p:spPr>
      </p:pic>
      <p:pic>
        <p:nvPicPr>
          <p:cNvPr id="85" name="Image 6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01050" y="2785110"/>
            <a:ext cx="4763" cy="40005"/>
          </a:xfrm>
          <a:prstGeom prst="rect">
            <a:avLst/>
          </a:prstGeom>
        </p:spPr>
      </p:pic>
      <p:sp>
        <p:nvSpPr>
          <p:cNvPr id="86" name="Text 20"/>
          <p:cNvSpPr/>
          <p:nvPr/>
        </p:nvSpPr>
        <p:spPr>
          <a:xfrm>
            <a:off x="4832031" y="2842260"/>
            <a:ext cx="51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499" dirty="0"/>
          </a:p>
        </p:txBody>
      </p:sp>
      <p:sp>
        <p:nvSpPr>
          <p:cNvPr id="87" name="Text 21"/>
          <p:cNvSpPr/>
          <p:nvPr/>
        </p:nvSpPr>
        <p:spPr>
          <a:xfrm>
            <a:off x="5717856" y="2842260"/>
            <a:ext cx="514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499" dirty="0"/>
          </a:p>
        </p:txBody>
      </p:sp>
      <p:sp>
        <p:nvSpPr>
          <p:cNvPr id="88" name="Text 22"/>
          <p:cNvSpPr/>
          <p:nvPr/>
        </p:nvSpPr>
        <p:spPr>
          <a:xfrm>
            <a:off x="6580822" y="2842260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499" dirty="0"/>
          </a:p>
        </p:txBody>
      </p:sp>
      <p:sp>
        <p:nvSpPr>
          <p:cNvPr id="89" name="Text 23"/>
          <p:cNvSpPr/>
          <p:nvPr/>
        </p:nvSpPr>
        <p:spPr>
          <a:xfrm>
            <a:off x="7466647" y="2842260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499" dirty="0"/>
          </a:p>
        </p:txBody>
      </p:sp>
      <p:sp>
        <p:nvSpPr>
          <p:cNvPr id="90" name="Text 24"/>
          <p:cNvSpPr/>
          <p:nvPr/>
        </p:nvSpPr>
        <p:spPr>
          <a:xfrm>
            <a:off x="8352472" y="2842260"/>
            <a:ext cx="971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499" dirty="0"/>
          </a:p>
        </p:txBody>
      </p:sp>
      <p:sp>
        <p:nvSpPr>
          <p:cNvPr id="91" name="Text 25"/>
          <p:cNvSpPr/>
          <p:nvPr/>
        </p:nvSpPr>
        <p:spPr>
          <a:xfrm>
            <a:off x="6392228" y="2985135"/>
            <a:ext cx="4743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8"/>
              </a:lnSpc>
              <a:buNone/>
            </a:pPr>
            <a:r>
              <a:rPr lang="en-US" sz="534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경과 시간 (분)</a:t>
            </a:r>
            <a:endParaRPr lang="en-US" sz="534" dirty="0"/>
          </a:p>
        </p:txBody>
      </p:sp>
      <p:pic>
        <p:nvPicPr>
          <p:cNvPr id="92" name="Image 6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292091" y="3185160"/>
            <a:ext cx="121444" cy="121444"/>
          </a:xfrm>
          <a:prstGeom prst="rect">
            <a:avLst/>
          </a:prstGeom>
        </p:spPr>
      </p:pic>
      <p:pic>
        <p:nvPicPr>
          <p:cNvPr id="93" name="Image 6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326507" y="3185160"/>
            <a:ext cx="121444" cy="121444"/>
          </a:xfrm>
          <a:prstGeom prst="rect">
            <a:avLst/>
          </a:prstGeom>
        </p:spPr>
      </p:pic>
      <p:pic>
        <p:nvPicPr>
          <p:cNvPr id="94" name="Image 6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12382" y="3185160"/>
            <a:ext cx="121444" cy="121444"/>
          </a:xfrm>
          <a:prstGeom prst="rect">
            <a:avLst/>
          </a:prstGeom>
        </p:spPr>
      </p:pic>
      <p:sp>
        <p:nvSpPr>
          <p:cNvPr id="95" name="Text 26"/>
          <p:cNvSpPr/>
          <p:nvPr/>
        </p:nvSpPr>
        <p:spPr>
          <a:xfrm>
            <a:off x="4640582" y="3190875"/>
            <a:ext cx="21717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95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　</a:t>
            </a:r>
            <a:endParaRPr lang="en-US" sz="499" dirty="0"/>
          </a:p>
        </p:txBody>
      </p:sp>
      <p:pic>
        <p:nvPicPr>
          <p:cNvPr id="96" name="Image 6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97" name="Text 27"/>
          <p:cNvSpPr/>
          <p:nvPr/>
        </p:nvSpPr>
        <p:spPr>
          <a:xfrm>
            <a:off x="628650" y="4491990"/>
            <a:ext cx="48977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 Pallavi et al., On-Demand Cueing Sensitive to Step Variability, IEEE J Transl Eng Health Med, 2025</a:t>
            </a:r>
            <a:endParaRPr lang="en-US" sz="499" dirty="0"/>
          </a:p>
        </p:txBody>
      </p:sp>
      <p:sp>
        <p:nvSpPr>
          <p:cNvPr id="98" name="Text 28"/>
          <p:cNvSpPr/>
          <p:nvPr/>
        </p:nvSpPr>
        <p:spPr>
          <a:xfrm>
            <a:off x="628650" y="4629150"/>
            <a:ext cx="24688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 ParCuR — 동결 자동 검출 기반 햅틱 큐잉, Sensors, 2025</a:t>
            </a:r>
            <a:endParaRPr lang="en-US" sz="49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468630"/>
            <a:ext cx="2228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784" dirty="0"/>
          </a:p>
        </p:txBody>
      </p:sp>
      <p:sp>
        <p:nvSpPr>
          <p:cNvPr id="3" name="Text 1"/>
          <p:cNvSpPr/>
          <p:nvPr/>
        </p:nvSpPr>
        <p:spPr>
          <a:xfrm>
            <a:off x="628650" y="651510"/>
            <a:ext cx="32232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발이 안 떨어질 때만 울린다</a:t>
            </a:r>
            <a:endParaRPr lang="en-US" sz="1924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r="2"/>
          <a:stretch/>
        </p:blipFill>
        <p:spPr>
          <a:xfrm>
            <a:off x="637222" y="1460182"/>
            <a:ext cx="51434" cy="514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8668" y="1394460"/>
            <a:ext cx="129159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발이 멈춰야 소리가 난다</a:t>
            </a:r>
            <a:endParaRPr lang="en-US" sz="855" dirty="0"/>
          </a:p>
        </p:txBody>
      </p:sp>
      <p:sp>
        <p:nvSpPr>
          <p:cNvPr id="7" name="Text 3"/>
          <p:cNvSpPr/>
          <p:nvPr/>
        </p:nvSpPr>
        <p:spPr>
          <a:xfrm>
            <a:off x="788668" y="1594485"/>
            <a:ext cx="2257425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8"/>
              </a:lnSpc>
              <a:buNone/>
            </a:pPr>
            <a:r>
              <a:rPr lang="en-US" sz="677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잔떨림이 일정 시간 이어질 때만 동결로 판정한다</a:t>
            </a:r>
            <a:endParaRPr lang="en-US" sz="67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r="2"/>
          <a:stretch/>
        </p:blipFill>
        <p:spPr>
          <a:xfrm>
            <a:off x="637222" y="1905953"/>
            <a:ext cx="51434" cy="514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8668" y="1838325"/>
            <a:ext cx="23050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케이던스(걸음 빠르기)를 재서 템포를 계산한다</a:t>
            </a:r>
            <a:endParaRPr lang="en-US" sz="85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r="2"/>
          <a:stretch/>
        </p:blipFill>
        <p:spPr>
          <a:xfrm>
            <a:off x="637222" y="2351722"/>
            <a:ext cx="51434" cy="514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8668" y="2286000"/>
            <a:ext cx="1357313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제대로 걸으면 종료된다</a:t>
            </a:r>
            <a:endParaRPr lang="en-US" sz="85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 r="2"/>
          <a:stretch/>
        </p:blipFill>
        <p:spPr>
          <a:xfrm>
            <a:off x="637222" y="2797493"/>
            <a:ext cx="51434" cy="514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88668" y="2731770"/>
            <a:ext cx="196024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20분을 차고 있어도 소리는 잠깐이다</a:t>
            </a:r>
            <a:endParaRPr lang="en-US" sz="85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rcRect r="4"/>
          <a:stretch/>
        </p:blipFill>
        <p:spPr>
          <a:xfrm>
            <a:off x="628650" y="3303270"/>
            <a:ext cx="22859" cy="8001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77241" y="3337560"/>
            <a:ext cx="76009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프로젝트의 자리</a:t>
            </a:r>
            <a:endParaRPr lang="en-US" sz="641" dirty="0"/>
          </a:p>
        </p:txBody>
      </p:sp>
      <p:sp>
        <p:nvSpPr>
          <p:cNvPr id="16" name="Text 8"/>
          <p:cNvSpPr/>
          <p:nvPr/>
        </p:nvSpPr>
        <p:spPr>
          <a:xfrm>
            <a:off x="777241" y="3531870"/>
            <a:ext cx="28746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동결을 보고 켜는 자극은 이미 연구 단계에 있다 (ParCuR).</a:t>
            </a:r>
            <a:endParaRPr lang="en-US" sz="784" dirty="0"/>
          </a:p>
        </p:txBody>
      </p:sp>
      <p:sp>
        <p:nvSpPr>
          <p:cNvPr id="17" name="Text 9"/>
          <p:cNvSpPr/>
          <p:nvPr/>
        </p:nvSpPr>
        <p:spPr>
          <a:xfrm>
            <a:off x="777241" y="3714750"/>
            <a:ext cx="2228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프로젝트는 그것을 학습용 KIT로 재현</a:t>
            </a:r>
            <a:endParaRPr lang="en-US" sz="784" dirty="0"/>
          </a:p>
        </p:txBody>
      </p:sp>
      <p:sp>
        <p:nvSpPr>
          <p:cNvPr id="18" name="Text 10"/>
          <p:cNvSpPr/>
          <p:nvPr/>
        </p:nvSpPr>
        <p:spPr>
          <a:xfrm>
            <a:off x="777241" y="3897630"/>
            <a:ext cx="21374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거기에 청각 자극과 케이던스 적응을 더한다.</a:t>
            </a:r>
            <a:endParaRPr lang="en-US" sz="784" dirty="0"/>
          </a:p>
        </p:txBody>
      </p:sp>
      <p:sp>
        <p:nvSpPr>
          <p:cNvPr id="19" name="Text 11"/>
          <p:cNvSpPr/>
          <p:nvPr/>
        </p:nvSpPr>
        <p:spPr>
          <a:xfrm>
            <a:off x="777241" y="4126230"/>
            <a:ext cx="265176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프로젝트가 참고한 [3][4][5]에는 케이던스에 맞춘 사례가 없다.</a:t>
            </a:r>
            <a:endParaRPr lang="en-US" sz="641" dirty="0"/>
          </a:p>
        </p:txBody>
      </p:sp>
      <p:sp>
        <p:nvSpPr>
          <p:cNvPr id="20" name="Text 12"/>
          <p:cNvSpPr/>
          <p:nvPr/>
        </p:nvSpPr>
        <p:spPr>
          <a:xfrm>
            <a:off x="3867476" y="1019175"/>
            <a:ext cx="18139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95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20분 — 소리만 달라진다</a:t>
            </a:r>
            <a:endParaRPr lang="en-US" sz="954" dirty="0"/>
          </a:p>
        </p:txBody>
      </p:sp>
      <p:sp>
        <p:nvSpPr>
          <p:cNvPr id="21" name="Text 13"/>
          <p:cNvSpPr/>
          <p:nvPr/>
        </p:nvSpPr>
        <p:spPr>
          <a:xfrm>
            <a:off x="3867476" y="1287055"/>
            <a:ext cx="1324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1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메트로놈 소리 (♩ = 분당 Click 수)</a:t>
            </a:r>
            <a:endParaRPr lang="en-US" sz="716" dirty="0"/>
          </a:p>
        </p:txBody>
      </p:sp>
      <p:sp>
        <p:nvSpPr>
          <p:cNvPr id="22" name="Text 14"/>
          <p:cNvSpPr/>
          <p:nvPr/>
        </p:nvSpPr>
        <p:spPr>
          <a:xfrm>
            <a:off x="7533601" y="1294708"/>
            <a:ext cx="1079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20분 중 세 번만 켜짐</a:t>
            </a:r>
            <a:endParaRPr lang="en-US" sz="668" dirty="0"/>
          </a:p>
        </p:txBody>
      </p:sp>
      <p:sp>
        <p:nvSpPr>
          <p:cNvPr id="23" name="Text 15"/>
          <p:cNvSpPr/>
          <p:nvPr/>
        </p:nvSpPr>
        <p:spPr>
          <a:xfrm>
            <a:off x="3867476" y="2021810"/>
            <a:ext cx="5281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4"/>
              </a:lnSpc>
              <a:buNone/>
            </a:pPr>
            <a:r>
              <a:rPr lang="en-US" sz="71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환자의 반응</a:t>
            </a:r>
            <a:endParaRPr lang="en-US" sz="716" dirty="0"/>
          </a:p>
        </p:txBody>
      </p:sp>
      <p:sp>
        <p:nvSpPr>
          <p:cNvPr id="24" name="Text 16"/>
          <p:cNvSpPr/>
          <p:nvPr/>
        </p:nvSpPr>
        <p:spPr>
          <a:xfrm>
            <a:off x="8543888" y="2029464"/>
            <a:ext cx="68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668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67476" y="1478397"/>
            <a:ext cx="4745296" cy="33676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607250" y="2151923"/>
            <a:ext cx="183689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06"/>
              </a:lnSpc>
              <a:buNone/>
            </a:pPr>
            <a:r>
              <a:rPr lang="en-US" sz="62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620" dirty="0"/>
          </a:p>
        </p:txBody>
      </p:sp>
      <p:sp>
        <p:nvSpPr>
          <p:cNvPr id="27" name="Text 18"/>
          <p:cNvSpPr/>
          <p:nvPr/>
        </p:nvSpPr>
        <p:spPr>
          <a:xfrm>
            <a:off x="3668478" y="2534609"/>
            <a:ext cx="122459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06"/>
              </a:lnSpc>
              <a:buNone/>
            </a:pPr>
            <a:r>
              <a:rPr lang="en-US" sz="62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620" dirty="0"/>
          </a:p>
        </p:txBody>
      </p:sp>
      <p:sp>
        <p:nvSpPr>
          <p:cNvPr id="28" name="Text 19"/>
          <p:cNvSpPr/>
          <p:nvPr/>
        </p:nvSpPr>
        <p:spPr>
          <a:xfrm>
            <a:off x="3729712" y="2917293"/>
            <a:ext cx="61230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06"/>
              </a:lnSpc>
              <a:buNone/>
            </a:pPr>
            <a:r>
              <a:rPr lang="en-US" sz="62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62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67476" y="2595838"/>
            <a:ext cx="4745296" cy="6378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99910" y="1478397"/>
            <a:ext cx="451568" cy="336763"/>
          </a:xfrm>
          <a:prstGeom prst="rect">
            <a:avLst/>
          </a:prstGeom>
        </p:spPr>
      </p:pic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32155" y="1478397"/>
            <a:ext cx="757717" cy="336763"/>
          </a:xfrm>
          <a:prstGeom prst="rect">
            <a:avLst/>
          </a:prstGeom>
        </p:spPr>
      </p:pic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rcRect r="1"/>
          <a:stretch/>
        </p:blipFill>
        <p:spPr>
          <a:xfrm>
            <a:off x="7453238" y="1478397"/>
            <a:ext cx="359722" cy="336763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353478" y="1509012"/>
            <a:ext cx="31886" cy="306148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68285" y="1509012"/>
            <a:ext cx="31886" cy="306148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83092" y="1509012"/>
            <a:ext cx="31886" cy="306148"/>
          </a:xfrm>
          <a:prstGeom prst="rect">
            <a:avLst/>
          </a:prstGeom>
        </p:spPr>
      </p:pic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97899" y="1509012"/>
            <a:ext cx="31886" cy="306148"/>
          </a:xfrm>
          <a:prstGeom prst="rect">
            <a:avLst/>
          </a:prstGeom>
        </p:spPr>
      </p:pic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85724" y="1509012"/>
            <a:ext cx="31886" cy="306148"/>
          </a:xfrm>
          <a:prstGeom prst="rect">
            <a:avLst/>
          </a:prstGeom>
        </p:spPr>
      </p:pic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15837" y="1509012"/>
            <a:ext cx="31886" cy="306148"/>
          </a:xfrm>
          <a:prstGeom prst="rect">
            <a:avLst/>
          </a:prstGeom>
        </p:spPr>
      </p:pic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45950" y="1509012"/>
            <a:ext cx="31886" cy="306148"/>
          </a:xfrm>
          <a:prstGeom prst="rect">
            <a:avLst/>
          </a:prstGeom>
        </p:spPr>
      </p:pic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76068" y="1509012"/>
            <a:ext cx="31886" cy="306148"/>
          </a:xfrm>
          <a:prstGeom prst="rect">
            <a:avLst/>
          </a:prstGeom>
        </p:spPr>
      </p:pic>
      <p:pic>
        <p:nvPicPr>
          <p:cNvPr id="41" name="Image 1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106176" y="1509012"/>
            <a:ext cx="31886" cy="306148"/>
          </a:xfrm>
          <a:prstGeom prst="rect">
            <a:avLst/>
          </a:prstGeom>
        </p:spPr>
      </p:pic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236294" y="1509012"/>
            <a:ext cx="31886" cy="306148"/>
          </a:xfrm>
          <a:prstGeom prst="rect">
            <a:avLst/>
          </a:prstGeom>
        </p:spPr>
      </p:pic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06807" y="1509012"/>
            <a:ext cx="31886" cy="306148"/>
          </a:xfrm>
          <a:prstGeom prst="rect">
            <a:avLst/>
          </a:prstGeom>
        </p:spPr>
      </p:pic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590992" y="1509012"/>
            <a:ext cx="31886" cy="306148"/>
          </a:xfrm>
          <a:prstGeom prst="rect">
            <a:avLst/>
          </a:prstGeom>
        </p:spPr>
      </p:pic>
      <p:pic>
        <p:nvPicPr>
          <p:cNvPr id="45" name="Image 2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5187" y="1509012"/>
            <a:ext cx="31886" cy="306148"/>
          </a:xfrm>
          <a:prstGeom prst="rect">
            <a:avLst/>
          </a:prstGeom>
        </p:spPr>
      </p:pic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59378" y="1509012"/>
            <a:ext cx="31886" cy="306148"/>
          </a:xfrm>
          <a:prstGeom prst="rect">
            <a:avLst/>
          </a:prstGeom>
        </p:spPr>
      </p:pic>
      <p:sp>
        <p:nvSpPr>
          <p:cNvPr id="47" name="Text 20"/>
          <p:cNvSpPr/>
          <p:nvPr/>
        </p:nvSpPr>
        <p:spPr>
          <a:xfrm>
            <a:off x="4403234" y="1868736"/>
            <a:ext cx="2449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716" dirty="0">
                <a:solidFill>
                  <a:srgbClr val="00A65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♩=96</a:t>
            </a:r>
            <a:endParaRPr lang="en-US" sz="716" dirty="0"/>
          </a:p>
        </p:txBody>
      </p:sp>
      <p:sp>
        <p:nvSpPr>
          <p:cNvPr id="48" name="Text 21"/>
          <p:cNvSpPr/>
          <p:nvPr/>
        </p:nvSpPr>
        <p:spPr>
          <a:xfrm>
            <a:off x="5788558" y="1868736"/>
            <a:ext cx="2449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716" dirty="0">
                <a:solidFill>
                  <a:srgbClr val="00A65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♩=88</a:t>
            </a:r>
            <a:endParaRPr lang="en-US" sz="716" dirty="0"/>
          </a:p>
        </p:txBody>
      </p:sp>
      <p:sp>
        <p:nvSpPr>
          <p:cNvPr id="49" name="Text 22"/>
          <p:cNvSpPr/>
          <p:nvPr/>
        </p:nvSpPr>
        <p:spPr>
          <a:xfrm>
            <a:off x="7476195" y="1868736"/>
            <a:ext cx="3138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716" dirty="0">
                <a:solidFill>
                  <a:srgbClr val="00A651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♩=104</a:t>
            </a:r>
            <a:endParaRPr lang="en-US" sz="716" dirty="0"/>
          </a:p>
        </p:txBody>
      </p:sp>
      <p:pic>
        <p:nvPicPr>
          <p:cNvPr id="50" name="Image 2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867476" y="2255248"/>
            <a:ext cx="4745296" cy="723275"/>
          </a:xfrm>
          <a:prstGeom prst="rect">
            <a:avLst/>
          </a:prstGeom>
        </p:spPr>
      </p:pic>
      <p:pic>
        <p:nvPicPr>
          <p:cNvPr id="51" name="Image 26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867476" y="2255248"/>
            <a:ext cx="4745296" cy="50387"/>
          </a:xfrm>
          <a:prstGeom prst="rect">
            <a:avLst/>
          </a:prstGeom>
        </p:spPr>
      </p:pic>
      <p:sp>
        <p:nvSpPr>
          <p:cNvPr id="52" name="Text 23"/>
          <p:cNvSpPr/>
          <p:nvPr/>
        </p:nvSpPr>
        <p:spPr>
          <a:xfrm>
            <a:off x="4778266" y="2618799"/>
            <a:ext cx="1216939" cy="10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35604A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20분 내내 반응이 유지된다</a:t>
            </a:r>
            <a:endParaRPr lang="en-US" sz="620" dirty="0"/>
          </a:p>
        </p:txBody>
      </p:sp>
      <p:pic>
        <p:nvPicPr>
          <p:cNvPr id="53" name="Image 27" descr="preencoded.png"/>
          <p:cNvPicPr>
            <a:picLocks noChangeAspect="1"/>
          </p:cNvPicPr>
          <p:nvPr/>
        </p:nvPicPr>
        <p:blipFill>
          <a:blip r:embed="rId14"/>
          <a:srcRect r="99302"/>
          <a:stretch/>
        </p:blipFill>
        <p:spPr>
          <a:xfrm>
            <a:off x="4525696" y="1815160"/>
            <a:ext cx="6381" cy="1683815"/>
          </a:xfrm>
          <a:prstGeom prst="rect">
            <a:avLst/>
          </a:prstGeom>
        </p:spPr>
      </p:pic>
      <p:pic>
        <p:nvPicPr>
          <p:cNvPr id="54" name="Image 28" descr="preencoded.png"/>
          <p:cNvPicPr>
            <a:picLocks noChangeAspect="1"/>
          </p:cNvPicPr>
          <p:nvPr/>
        </p:nvPicPr>
        <p:blipFill>
          <a:blip r:embed="rId14"/>
          <a:srcRect r="99302"/>
          <a:stretch/>
        </p:blipFill>
        <p:spPr>
          <a:xfrm>
            <a:off x="5911016" y="1815160"/>
            <a:ext cx="6381" cy="1683815"/>
          </a:xfrm>
          <a:prstGeom prst="rect">
            <a:avLst/>
          </a:prstGeom>
        </p:spPr>
      </p:pic>
      <p:pic>
        <p:nvPicPr>
          <p:cNvPr id="55" name="Image 29" descr="preencoded.png"/>
          <p:cNvPicPr>
            <a:picLocks noChangeAspect="1"/>
          </p:cNvPicPr>
          <p:nvPr/>
        </p:nvPicPr>
        <p:blipFill>
          <a:blip r:embed="rId14"/>
          <a:srcRect r="99302"/>
          <a:stretch/>
        </p:blipFill>
        <p:spPr>
          <a:xfrm>
            <a:off x="7633102" y="1815160"/>
            <a:ext cx="6381" cy="1683815"/>
          </a:xfrm>
          <a:prstGeom prst="rect">
            <a:avLst/>
          </a:prstGeom>
        </p:spPr>
      </p:pic>
      <p:pic>
        <p:nvPicPr>
          <p:cNvPr id="56" name="Image 3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867476" y="1815160"/>
            <a:ext cx="4745296" cy="6378"/>
          </a:xfrm>
          <a:prstGeom prst="rect">
            <a:avLst/>
          </a:prstGeom>
        </p:spPr>
      </p:pic>
      <p:pic>
        <p:nvPicPr>
          <p:cNvPr id="57" name="Image 31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867476" y="2978523"/>
            <a:ext cx="4745296" cy="9567"/>
          </a:xfrm>
          <a:prstGeom prst="rect">
            <a:avLst/>
          </a:prstGeom>
        </p:spPr>
      </p:pic>
      <p:pic>
        <p:nvPicPr>
          <p:cNvPr id="58" name="Image 32" descr="preencoded.png"/>
          <p:cNvPicPr>
            <a:picLocks noChangeAspect="1"/>
          </p:cNvPicPr>
          <p:nvPr/>
        </p:nvPicPr>
        <p:blipFill>
          <a:blip r:embed="rId17"/>
          <a:srcRect r="99302"/>
          <a:stretch/>
        </p:blipFill>
        <p:spPr>
          <a:xfrm>
            <a:off x="3867476" y="2978523"/>
            <a:ext cx="6381" cy="53576"/>
          </a:xfrm>
          <a:prstGeom prst="rect">
            <a:avLst/>
          </a:prstGeom>
        </p:spPr>
      </p:pic>
      <p:pic>
        <p:nvPicPr>
          <p:cNvPr id="59" name="Image 33" descr="preencoded.png"/>
          <p:cNvPicPr>
            <a:picLocks noChangeAspect="1"/>
          </p:cNvPicPr>
          <p:nvPr/>
        </p:nvPicPr>
        <p:blipFill>
          <a:blip r:embed="rId17"/>
          <a:srcRect r="99302"/>
          <a:stretch/>
        </p:blipFill>
        <p:spPr>
          <a:xfrm>
            <a:off x="5053798" y="2978523"/>
            <a:ext cx="6381" cy="53576"/>
          </a:xfrm>
          <a:prstGeom prst="rect">
            <a:avLst/>
          </a:prstGeom>
        </p:spPr>
      </p:pic>
      <p:pic>
        <p:nvPicPr>
          <p:cNvPr id="60" name="Image 34" descr="preencoded.png"/>
          <p:cNvPicPr>
            <a:picLocks noChangeAspect="1"/>
          </p:cNvPicPr>
          <p:nvPr/>
        </p:nvPicPr>
        <p:blipFill>
          <a:blip r:embed="rId17"/>
          <a:srcRect r="99302"/>
          <a:stretch/>
        </p:blipFill>
        <p:spPr>
          <a:xfrm>
            <a:off x="6240126" y="2978523"/>
            <a:ext cx="6381" cy="53576"/>
          </a:xfrm>
          <a:prstGeom prst="rect">
            <a:avLst/>
          </a:prstGeom>
        </p:spPr>
      </p:pic>
      <p:pic>
        <p:nvPicPr>
          <p:cNvPr id="61" name="Image 35" descr="preencoded.png"/>
          <p:cNvPicPr>
            <a:picLocks noChangeAspect="1"/>
          </p:cNvPicPr>
          <p:nvPr/>
        </p:nvPicPr>
        <p:blipFill>
          <a:blip r:embed="rId17"/>
          <a:srcRect r="99302"/>
          <a:stretch/>
        </p:blipFill>
        <p:spPr>
          <a:xfrm>
            <a:off x="7426449" y="2978523"/>
            <a:ext cx="6381" cy="53576"/>
          </a:xfrm>
          <a:prstGeom prst="rect">
            <a:avLst/>
          </a:prstGeom>
        </p:spPr>
      </p:pic>
      <p:pic>
        <p:nvPicPr>
          <p:cNvPr id="62" name="Image 36" descr="preencoded.png"/>
          <p:cNvPicPr>
            <a:picLocks noChangeAspect="1"/>
          </p:cNvPicPr>
          <p:nvPr/>
        </p:nvPicPr>
        <p:blipFill>
          <a:blip r:embed="rId17"/>
          <a:srcRect r="99302"/>
          <a:stretch/>
        </p:blipFill>
        <p:spPr>
          <a:xfrm>
            <a:off x="8612772" y="2978523"/>
            <a:ext cx="6381" cy="53576"/>
          </a:xfrm>
          <a:prstGeom prst="rect">
            <a:avLst/>
          </a:prstGeom>
        </p:spPr>
      </p:pic>
      <p:sp>
        <p:nvSpPr>
          <p:cNvPr id="63" name="Text 24"/>
          <p:cNvSpPr/>
          <p:nvPr/>
        </p:nvSpPr>
        <p:spPr>
          <a:xfrm>
            <a:off x="3833027" y="3055060"/>
            <a:ext cx="68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668" dirty="0"/>
          </a:p>
        </p:txBody>
      </p:sp>
      <p:sp>
        <p:nvSpPr>
          <p:cNvPr id="64" name="Text 25"/>
          <p:cNvSpPr/>
          <p:nvPr/>
        </p:nvSpPr>
        <p:spPr>
          <a:xfrm>
            <a:off x="5019359" y="3055060"/>
            <a:ext cx="68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668" dirty="0"/>
          </a:p>
        </p:txBody>
      </p:sp>
      <p:sp>
        <p:nvSpPr>
          <p:cNvPr id="65" name="Text 26"/>
          <p:cNvSpPr/>
          <p:nvPr/>
        </p:nvSpPr>
        <p:spPr>
          <a:xfrm>
            <a:off x="6175065" y="3055060"/>
            <a:ext cx="130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668" dirty="0"/>
          </a:p>
        </p:txBody>
      </p:sp>
      <p:sp>
        <p:nvSpPr>
          <p:cNvPr id="66" name="Text 27"/>
          <p:cNvSpPr/>
          <p:nvPr/>
        </p:nvSpPr>
        <p:spPr>
          <a:xfrm>
            <a:off x="7361393" y="3055060"/>
            <a:ext cx="130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668" dirty="0"/>
          </a:p>
        </p:txBody>
      </p:sp>
      <p:sp>
        <p:nvSpPr>
          <p:cNvPr id="67" name="Text 28"/>
          <p:cNvSpPr/>
          <p:nvPr/>
        </p:nvSpPr>
        <p:spPr>
          <a:xfrm>
            <a:off x="8547715" y="3055060"/>
            <a:ext cx="130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8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668" dirty="0"/>
          </a:p>
        </p:txBody>
      </p:sp>
      <p:sp>
        <p:nvSpPr>
          <p:cNvPr id="68" name="Text 29"/>
          <p:cNvSpPr/>
          <p:nvPr/>
        </p:nvSpPr>
        <p:spPr>
          <a:xfrm>
            <a:off x="5922494" y="3246403"/>
            <a:ext cx="6352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4"/>
              </a:lnSpc>
              <a:buNone/>
            </a:pPr>
            <a:r>
              <a:rPr lang="en-US" sz="716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경과 시간 (분)</a:t>
            </a:r>
            <a:endParaRPr lang="en-US" sz="716" dirty="0"/>
          </a:p>
        </p:txBody>
      </p:sp>
      <p:pic>
        <p:nvPicPr>
          <p:cNvPr id="69" name="Image 3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449156" y="3514282"/>
            <a:ext cx="162641" cy="162641"/>
          </a:xfrm>
          <a:prstGeom prst="rect">
            <a:avLst/>
          </a:prstGeom>
        </p:spPr>
      </p:pic>
      <p:pic>
        <p:nvPicPr>
          <p:cNvPr id="70" name="Image 3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834481" y="3514282"/>
            <a:ext cx="162641" cy="162641"/>
          </a:xfrm>
          <a:prstGeom prst="rect">
            <a:avLst/>
          </a:prstGeom>
        </p:spPr>
      </p:pic>
      <p:pic>
        <p:nvPicPr>
          <p:cNvPr id="71" name="Image 3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556562" y="3514282"/>
            <a:ext cx="162641" cy="162641"/>
          </a:xfrm>
          <a:prstGeom prst="rect">
            <a:avLst/>
          </a:prstGeom>
        </p:spPr>
      </p:pic>
      <p:sp>
        <p:nvSpPr>
          <p:cNvPr id="72" name="Text 30"/>
          <p:cNvSpPr/>
          <p:nvPr/>
        </p:nvSpPr>
        <p:spPr>
          <a:xfrm>
            <a:off x="3576638" y="3521936"/>
            <a:ext cx="2908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97"/>
              </a:lnSpc>
              <a:buNone/>
            </a:pPr>
            <a:r>
              <a:rPr lang="en-US" sz="668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　</a:t>
            </a:r>
            <a:endParaRPr lang="en-US" sz="668" dirty="0"/>
          </a:p>
        </p:txBody>
      </p:sp>
      <p:sp>
        <p:nvSpPr>
          <p:cNvPr id="73" name="Text 31"/>
          <p:cNvSpPr/>
          <p:nvPr/>
        </p:nvSpPr>
        <p:spPr>
          <a:xfrm>
            <a:off x="3867476" y="3858699"/>
            <a:ext cx="24185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6"/>
              </a:lnSpc>
              <a:buNone/>
            </a:pPr>
            <a:r>
              <a:rPr lang="en-US" sz="1002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20분 동안 소리가 난 것은 세 번뿐</a:t>
            </a:r>
            <a:endParaRPr lang="en-US" sz="1002" dirty="0"/>
          </a:p>
        </p:txBody>
      </p:sp>
      <p:pic>
        <p:nvPicPr>
          <p:cNvPr id="74" name="Image 40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75" name="Text 32"/>
          <p:cNvSpPr/>
          <p:nvPr/>
        </p:nvSpPr>
        <p:spPr>
          <a:xfrm>
            <a:off x="628650" y="4491990"/>
            <a:ext cx="48977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 Pallavi et al., On-Demand Cueing Sensitive to Step Variability, IEEE J Transl Eng Health Med, 2025</a:t>
            </a:r>
            <a:endParaRPr lang="en-US" sz="499" dirty="0"/>
          </a:p>
        </p:txBody>
      </p:sp>
      <p:sp>
        <p:nvSpPr>
          <p:cNvPr id="76" name="Text 33"/>
          <p:cNvSpPr/>
          <p:nvPr/>
        </p:nvSpPr>
        <p:spPr>
          <a:xfrm>
            <a:off x="628650" y="4629150"/>
            <a:ext cx="56235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 Slemenšek et al., Wearable Online Freezing of Gait Detection and Cueing System, Bioengineering, 2024 (n=9 예비연구)</a:t>
            </a:r>
            <a:endParaRPr lang="en-US" sz="499" dirty="0"/>
          </a:p>
        </p:txBody>
      </p:sp>
      <p:sp>
        <p:nvSpPr>
          <p:cNvPr id="77" name="Text 34"/>
          <p:cNvSpPr/>
          <p:nvPr/>
        </p:nvSpPr>
        <p:spPr>
          <a:xfrm>
            <a:off x="628650" y="4766310"/>
            <a:ext cx="24688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 ParCuR — 동결 자동 검출 기반 햅틱 큐잉, Sensors, 2025</a:t>
            </a:r>
            <a:endParaRPr lang="en-US" sz="49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468630"/>
            <a:ext cx="13201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세부 - 검출 알고리즘</a:t>
            </a:r>
            <a:endParaRPr lang="en-US" sz="784" dirty="0"/>
          </a:p>
        </p:txBody>
      </p:sp>
      <p:sp>
        <p:nvSpPr>
          <p:cNvPr id="3" name="Text 1"/>
          <p:cNvSpPr/>
          <p:nvPr/>
        </p:nvSpPr>
        <p:spPr>
          <a:xfrm>
            <a:off x="628650" y="651510"/>
            <a:ext cx="50977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떨림 주파수로 보행 동결(FoG)을 검출한다</a:t>
            </a:r>
            <a:endParaRPr lang="en-US" sz="1924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r="4"/>
          <a:stretch/>
        </p:blipFill>
        <p:spPr>
          <a:xfrm>
            <a:off x="662941" y="1651635"/>
            <a:ext cx="45718" cy="45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1532" y="1583055"/>
            <a:ext cx="16916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허리 가속도를 주파수로 분해한다</a:t>
            </a:r>
            <a:endParaRPr lang="en-US" sz="819" dirty="0"/>
          </a:p>
        </p:txBody>
      </p:sp>
      <p:sp>
        <p:nvSpPr>
          <p:cNvPr id="7" name="Text 3"/>
          <p:cNvSpPr/>
          <p:nvPr/>
        </p:nvSpPr>
        <p:spPr>
          <a:xfrm>
            <a:off x="811532" y="1754505"/>
            <a:ext cx="190881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빠르기의 움직임에 힘이 실렸는지 드러난다</a:t>
            </a:r>
            <a:endParaRPr lang="en-US" sz="641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r="4"/>
          <a:stretch/>
        </p:blipFill>
        <p:spPr>
          <a:xfrm>
            <a:off x="662941" y="2097405"/>
            <a:ext cx="45718" cy="45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1532" y="2028825"/>
            <a:ext cx="2914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보행은 0.5~3 Hz, 얼어붙을 때는 3~8 Hz로 변화된다</a:t>
            </a:r>
            <a:endParaRPr lang="en-US" sz="819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r="4"/>
          <a:stretch/>
        </p:blipFill>
        <p:spPr>
          <a:xfrm>
            <a:off x="662941" y="2543175"/>
            <a:ext cx="45718" cy="457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1532" y="2474595"/>
            <a:ext cx="244602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자체가 아니라 두 구간(대역)의 비율로 본다</a:t>
            </a:r>
            <a:endParaRPr lang="en-US" sz="819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 r="4"/>
          <a:stretch/>
        </p:blipFill>
        <p:spPr>
          <a:xfrm>
            <a:off x="662941" y="2988945"/>
            <a:ext cx="45718" cy="457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11532" y="2920365"/>
            <a:ext cx="22117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임계값을 넘은 상태가 이어질 때만 판정한다</a:t>
            </a:r>
            <a:endParaRPr lang="en-US" sz="819" dirty="0"/>
          </a:p>
        </p:txBody>
      </p:sp>
      <p:sp>
        <p:nvSpPr>
          <p:cNvPr id="14" name="Text 7"/>
          <p:cNvSpPr/>
          <p:nvPr/>
        </p:nvSpPr>
        <p:spPr>
          <a:xfrm>
            <a:off x="811532" y="3091815"/>
            <a:ext cx="193738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666666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계단이나 방향 전환에서 순간 튀는 값을 걸러낸다</a:t>
            </a:r>
            <a:endParaRPr lang="en-US" sz="641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r="4"/>
          <a:stretch/>
        </p:blipFill>
        <p:spPr>
          <a:xfrm>
            <a:off x="628650" y="3429000"/>
            <a:ext cx="22859" cy="6858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65809" y="3480435"/>
            <a:ext cx="5886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3"/>
              </a:lnSpc>
              <a:buNone/>
            </a:pPr>
            <a:r>
              <a:rPr lang="en-US" sz="606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Freeze Index</a:t>
            </a:r>
            <a:endParaRPr lang="en-US" sz="606" dirty="0"/>
          </a:p>
        </p:txBody>
      </p:sp>
      <p:sp>
        <p:nvSpPr>
          <p:cNvPr id="17" name="Text 9"/>
          <p:cNvSpPr/>
          <p:nvPr/>
        </p:nvSpPr>
        <p:spPr>
          <a:xfrm>
            <a:off x="765809" y="3663315"/>
            <a:ext cx="26346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91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3~8 Hz 대역의 세기 ÷ 0.5~3 Hz 대역의 세기</a:t>
            </a:r>
            <a:endParaRPr lang="en-US" sz="891" dirty="0"/>
          </a:p>
        </p:txBody>
      </p:sp>
      <p:sp>
        <p:nvSpPr>
          <p:cNvPr id="18" name="Text 10"/>
          <p:cNvSpPr/>
          <p:nvPr/>
        </p:nvSpPr>
        <p:spPr>
          <a:xfrm>
            <a:off x="765809" y="3897630"/>
            <a:ext cx="246888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동결이 시작된 직후에 개입</a:t>
            </a:r>
            <a:endParaRPr lang="en-US" sz="641" dirty="0"/>
          </a:p>
        </p:txBody>
      </p:sp>
      <p:sp>
        <p:nvSpPr>
          <p:cNvPr id="19" name="Text 11"/>
          <p:cNvSpPr/>
          <p:nvPr/>
        </p:nvSpPr>
        <p:spPr>
          <a:xfrm>
            <a:off x="4167188" y="1228725"/>
            <a:ext cx="247509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9"/>
              </a:lnSpc>
              <a:buNone/>
            </a:pPr>
            <a:r>
              <a:rPr lang="en-US" sz="87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가속도 주파수 스펙트럼 — 정상 보행 vs 동결</a:t>
            </a:r>
            <a:endParaRPr lang="en-US" sz="879" dirty="0"/>
          </a:p>
        </p:txBody>
      </p:sp>
      <p:sp>
        <p:nvSpPr>
          <p:cNvPr id="20" name="Text 12"/>
          <p:cNvSpPr/>
          <p:nvPr/>
        </p:nvSpPr>
        <p:spPr>
          <a:xfrm>
            <a:off x="4167188" y="1581303"/>
            <a:ext cx="166416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4"/>
              </a:lnSpc>
              <a:buNone/>
            </a:pPr>
            <a:r>
              <a:rPr lang="en-US" sz="791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보행 — Freeze Index 낮음</a:t>
            </a:r>
            <a:endParaRPr lang="en-US" sz="791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89002" y="1806952"/>
            <a:ext cx="916702" cy="705156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605704" y="2383065"/>
            <a:ext cx="1833404" cy="129043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05704" y="1778747"/>
            <a:ext cx="5879" cy="733362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05660" y="1806952"/>
            <a:ext cx="3667037" cy="705626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78733" y="2512108"/>
            <a:ext cx="4371966" cy="881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89002" y="2512108"/>
            <a:ext cx="8818" cy="42309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4586757" y="2582623"/>
            <a:ext cx="204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703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05704" y="2512108"/>
            <a:ext cx="8818" cy="42309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5570446" y="2582623"/>
            <a:ext cx="70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703" dirty="0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39109" y="2512108"/>
            <a:ext cx="8818" cy="42309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7403850" y="2582623"/>
            <a:ext cx="70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703" dirty="0"/>
          </a:p>
        </p:txBody>
      </p:sp>
      <p:sp>
        <p:nvSpPr>
          <p:cNvPr id="32" name="Text 16"/>
          <p:cNvSpPr/>
          <p:nvPr/>
        </p:nvSpPr>
        <p:spPr>
          <a:xfrm>
            <a:off x="8609665" y="2582623"/>
            <a:ext cx="1410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Hz</a:t>
            </a:r>
            <a:endParaRPr lang="en-US" sz="703" dirty="0"/>
          </a:p>
        </p:txBody>
      </p:sp>
      <p:sp>
        <p:nvSpPr>
          <p:cNvPr id="33" name="Text 17"/>
          <p:cNvSpPr/>
          <p:nvPr/>
        </p:nvSpPr>
        <p:spPr>
          <a:xfrm>
            <a:off x="4167188" y="2836479"/>
            <a:ext cx="141736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4"/>
              </a:lnSpc>
              <a:buNone/>
            </a:pPr>
            <a:r>
              <a:rPr lang="en-US" sz="791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 — Freeze Index 높음</a:t>
            </a:r>
            <a:endParaRPr lang="en-US" sz="791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89002" y="3521891"/>
            <a:ext cx="916702" cy="245394"/>
          </a:xfrm>
          <a:prstGeom prst="rect">
            <a:avLst/>
          </a:prstGeom>
        </p:spPr>
      </p:pic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605704" y="3062129"/>
            <a:ext cx="1833404" cy="705156"/>
          </a:xfrm>
          <a:prstGeom prst="rect">
            <a:avLst/>
          </a:prstGeom>
        </p:spPr>
      </p:pic>
      <p:pic>
        <p:nvPicPr>
          <p:cNvPr id="36" name="Image 1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05704" y="3033923"/>
            <a:ext cx="5879" cy="733362"/>
          </a:xfrm>
          <a:prstGeom prst="rect">
            <a:avLst/>
          </a:prstGeom>
        </p:spPr>
      </p:pic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505660" y="3062129"/>
            <a:ext cx="3667037" cy="701395"/>
          </a:xfrm>
          <a:prstGeom prst="rect">
            <a:avLst/>
          </a:prstGeom>
        </p:spPr>
      </p:pic>
      <p:pic>
        <p:nvPicPr>
          <p:cNvPr id="38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378733" y="3767285"/>
            <a:ext cx="4371966" cy="8815"/>
          </a:xfrm>
          <a:prstGeom prst="rect">
            <a:avLst/>
          </a:prstGeom>
        </p:spPr>
      </p:pic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1"/>
          <a:srcRect r="99036"/>
          <a:stretch/>
        </p:blipFill>
        <p:spPr>
          <a:xfrm>
            <a:off x="4689002" y="3767285"/>
            <a:ext cx="8818" cy="42309"/>
          </a:xfrm>
          <a:prstGeom prst="rect">
            <a:avLst/>
          </a:prstGeom>
        </p:spPr>
      </p:pic>
      <p:sp>
        <p:nvSpPr>
          <p:cNvPr id="40" name="Text 18"/>
          <p:cNvSpPr/>
          <p:nvPr/>
        </p:nvSpPr>
        <p:spPr>
          <a:xfrm>
            <a:off x="4586757" y="3837800"/>
            <a:ext cx="204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703" dirty="0"/>
          </a:p>
        </p:txBody>
      </p:sp>
      <p:pic>
        <p:nvPicPr>
          <p:cNvPr id="41" name="Image 20" descr="preencoded.png"/>
          <p:cNvPicPr>
            <a:picLocks noChangeAspect="1"/>
          </p:cNvPicPr>
          <p:nvPr/>
        </p:nvPicPr>
        <p:blipFill>
          <a:blip r:embed="rId11"/>
          <a:srcRect r="99036"/>
          <a:stretch/>
        </p:blipFill>
        <p:spPr>
          <a:xfrm>
            <a:off x="5605704" y="3767285"/>
            <a:ext cx="8818" cy="42309"/>
          </a:xfrm>
          <a:prstGeom prst="rect">
            <a:avLst/>
          </a:prstGeom>
        </p:spPr>
      </p:pic>
      <p:sp>
        <p:nvSpPr>
          <p:cNvPr id="42" name="Text 19"/>
          <p:cNvSpPr/>
          <p:nvPr/>
        </p:nvSpPr>
        <p:spPr>
          <a:xfrm>
            <a:off x="5570446" y="3837800"/>
            <a:ext cx="70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703" dirty="0"/>
          </a:p>
        </p:txBody>
      </p:sp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11"/>
          <a:srcRect r="99036"/>
          <a:stretch/>
        </p:blipFill>
        <p:spPr>
          <a:xfrm>
            <a:off x="7439109" y="3767285"/>
            <a:ext cx="8818" cy="42309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7403850" y="3837800"/>
            <a:ext cx="70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703" dirty="0"/>
          </a:p>
        </p:txBody>
      </p:sp>
      <p:sp>
        <p:nvSpPr>
          <p:cNvPr id="45" name="Text 21"/>
          <p:cNvSpPr/>
          <p:nvPr/>
        </p:nvSpPr>
        <p:spPr>
          <a:xfrm>
            <a:off x="8609665" y="3837800"/>
            <a:ext cx="1410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14"/>
              </a:lnSpc>
              <a:buNone/>
            </a:pPr>
            <a:r>
              <a:rPr lang="en-US" sz="703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Hz</a:t>
            </a:r>
            <a:endParaRPr lang="en-US" sz="703" dirty="0"/>
          </a:p>
        </p:txBody>
      </p:sp>
      <p:sp>
        <p:nvSpPr>
          <p:cNvPr id="46" name="Text 22"/>
          <p:cNvSpPr/>
          <p:nvPr/>
        </p:nvSpPr>
        <p:spPr>
          <a:xfrm>
            <a:off x="4167188" y="4092832"/>
            <a:ext cx="2638456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9"/>
              </a:lnSpc>
              <a:buNone/>
            </a:pPr>
            <a:r>
              <a:rPr lang="en-US" sz="879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정확도 95.1%, 검출 속도 261ms(선행연구 기반)</a:t>
            </a:r>
            <a:endParaRPr lang="en-US" sz="879" dirty="0"/>
          </a:p>
        </p:txBody>
      </p:sp>
      <p:pic>
        <p:nvPicPr>
          <p:cNvPr id="47" name="Image 2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sp>
        <p:nvSpPr>
          <p:cNvPr id="48" name="Text 23"/>
          <p:cNvSpPr/>
          <p:nvPr/>
        </p:nvSpPr>
        <p:spPr>
          <a:xfrm>
            <a:off x="628650" y="4491990"/>
            <a:ext cx="62122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 Slemenšek et al., Bioengineering, 2024 (n=9 예비연구 · 진동 자극 기반) [6] Frontiers in Neurology, 2022 (케이던스 WMD 1.57, P=0.635)</a:t>
            </a:r>
            <a:endParaRPr lang="en-US" sz="499" dirty="0"/>
          </a:p>
        </p:txBody>
      </p:sp>
      <p:sp>
        <p:nvSpPr>
          <p:cNvPr id="49" name="Text 24"/>
          <p:cNvSpPr/>
          <p:nvPr/>
        </p:nvSpPr>
        <p:spPr>
          <a:xfrm>
            <a:off x="628650" y="4617720"/>
            <a:ext cx="3537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8"/>
              </a:lnSpc>
              <a:buNone/>
            </a:pPr>
            <a:r>
              <a:rPr lang="en-US" sz="499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[4]는 진동 자극 기반이므로, 정확도만 목표치로 삼고 지연은 우리 구조 기준으로 따로 잡는다</a:t>
            </a:r>
            <a:endParaRPr lang="en-US" sz="49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651510"/>
            <a:ext cx="3754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 활용된 기능</a:t>
            </a:r>
            <a:endParaRPr lang="en-US" sz="1924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" y="1120140"/>
            <a:ext cx="491491" cy="23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1520190"/>
            <a:ext cx="325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2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297557" y="1520190"/>
            <a:ext cx="325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2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966464" y="1520190"/>
            <a:ext cx="325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2</a:t>
            </a:r>
            <a:endParaRPr lang="en-US" sz="784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" y="1725930"/>
            <a:ext cx="2548891" cy="857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8782" y="1881187"/>
            <a:ext cx="1023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MPU-6050</a:t>
            </a:r>
            <a:endParaRPr lang="en-US" sz="855" dirty="0"/>
          </a:p>
        </p:txBody>
      </p:sp>
      <p:sp>
        <p:nvSpPr>
          <p:cNvPr id="9" name="Text 5"/>
          <p:cNvSpPr/>
          <p:nvPr/>
        </p:nvSpPr>
        <p:spPr>
          <a:xfrm>
            <a:off x="1666875" y="2057400"/>
            <a:ext cx="1509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허리에서 3축 가속도를 읽어, 떨림 분석.</a:t>
            </a:r>
            <a:endParaRPr lang="en-US" sz="71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650" y="2674620"/>
            <a:ext cx="2548891" cy="857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68782" y="2828925"/>
            <a:ext cx="40576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부저</a:t>
            </a:r>
            <a:endParaRPr lang="en-US" sz="855" dirty="0"/>
          </a:p>
        </p:txBody>
      </p:sp>
      <p:sp>
        <p:nvSpPr>
          <p:cNvPr id="12" name="Text 7"/>
          <p:cNvSpPr/>
          <p:nvPr/>
        </p:nvSpPr>
        <p:spPr>
          <a:xfrm>
            <a:off x="1666875" y="3005138"/>
            <a:ext cx="12811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주파수를 바꿔 가며 소리를 만듦</a:t>
            </a:r>
            <a:endParaRPr lang="en-US" sz="71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7557" y="1725930"/>
            <a:ext cx="2548886" cy="85725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88993" y="1817370"/>
            <a:ext cx="857250" cy="67437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37684" y="1881187"/>
            <a:ext cx="108585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0.96" OLED</a:t>
            </a:r>
            <a:endParaRPr lang="en-US" sz="855" dirty="0"/>
          </a:p>
        </p:txBody>
      </p:sp>
      <p:sp>
        <p:nvSpPr>
          <p:cNvPr id="16" name="Text 9"/>
          <p:cNvSpPr/>
          <p:nvPr/>
        </p:nvSpPr>
        <p:spPr>
          <a:xfrm>
            <a:off x="4338638" y="2057400"/>
            <a:ext cx="13858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그날의 동결 횟수와 시점을 보여줌</a:t>
            </a:r>
            <a:endParaRPr lang="en-US" sz="713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7557" y="2674620"/>
            <a:ext cx="2548886" cy="8572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432809" y="2828925"/>
            <a:ext cx="6429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택트스위치</a:t>
            </a:r>
            <a:endParaRPr lang="en-US" sz="855" dirty="0"/>
          </a:p>
        </p:txBody>
      </p:sp>
      <p:sp>
        <p:nvSpPr>
          <p:cNvPr id="19" name="Text 11"/>
          <p:cNvSpPr/>
          <p:nvPr/>
        </p:nvSpPr>
        <p:spPr>
          <a:xfrm>
            <a:off x="3433763" y="3024188"/>
            <a:ext cx="1200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감지가 빗나갔을 때 수동 입력용</a:t>
            </a:r>
            <a:endParaRPr lang="en-US" sz="713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66464" y="1725930"/>
            <a:ext cx="2548886" cy="8572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06586" y="1881187"/>
            <a:ext cx="11382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내장 WiFi</a:t>
            </a:r>
            <a:endParaRPr lang="en-US" sz="855" dirty="0"/>
          </a:p>
        </p:txBody>
      </p:sp>
      <p:sp>
        <p:nvSpPr>
          <p:cNvPr id="22" name="Text 13"/>
          <p:cNvSpPr/>
          <p:nvPr/>
        </p:nvSpPr>
        <p:spPr>
          <a:xfrm>
            <a:off x="7005638" y="2057400"/>
            <a:ext cx="13001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연산 및 그날 기록 전송</a:t>
            </a:r>
            <a:endParaRPr lang="en-US" sz="713" dirty="0"/>
          </a:p>
        </p:txBody>
      </p:sp>
      <p:sp>
        <p:nvSpPr>
          <p:cNvPr id="23" name="Text 14"/>
          <p:cNvSpPr/>
          <p:nvPr/>
        </p:nvSpPr>
        <p:spPr>
          <a:xfrm>
            <a:off x="4730111" y="2828925"/>
            <a:ext cx="62388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5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심박 센서</a:t>
            </a:r>
            <a:endParaRPr lang="en-US" sz="855" dirty="0"/>
          </a:p>
        </p:txBody>
      </p:sp>
      <p:sp>
        <p:nvSpPr>
          <p:cNvPr id="24" name="Text 15"/>
          <p:cNvSpPr/>
          <p:nvPr/>
        </p:nvSpPr>
        <p:spPr>
          <a:xfrm>
            <a:off x="4729163" y="3024188"/>
            <a:ext cx="92583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 있는동안 측정 및 분석</a:t>
            </a:r>
            <a:endParaRPr lang="en-US" sz="713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8650" y="3646170"/>
            <a:ext cx="7886700" cy="7086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90575" y="3810000"/>
            <a:ext cx="445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허리인가</a:t>
            </a:r>
            <a:endParaRPr lang="en-US" sz="713" dirty="0"/>
          </a:p>
        </p:txBody>
      </p:sp>
      <p:sp>
        <p:nvSpPr>
          <p:cNvPr id="27" name="Text 17"/>
          <p:cNvSpPr/>
          <p:nvPr/>
        </p:nvSpPr>
        <p:spPr>
          <a:xfrm>
            <a:off x="790575" y="3975735"/>
            <a:ext cx="130302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57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발목에서 재면 신호는 더 좋지만 매번</a:t>
            </a:r>
            <a:endParaRPr lang="en-US" sz="570" dirty="0"/>
          </a:p>
        </p:txBody>
      </p:sp>
      <p:sp>
        <p:nvSpPr>
          <p:cNvPr id="28" name="Text 18"/>
          <p:cNvSpPr/>
          <p:nvPr/>
        </p:nvSpPr>
        <p:spPr>
          <a:xfrm>
            <a:off x="790575" y="4095750"/>
            <a:ext cx="150876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0"/>
              </a:lnSpc>
              <a:buNone/>
            </a:pPr>
            <a:r>
              <a:rPr lang="en-US" sz="570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자리에 차기 어렵다. 허리는 일정하다.</a:t>
            </a:r>
            <a:endParaRPr lang="en-US" sz="57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19138" y="1795463"/>
            <a:ext cx="857250" cy="623888"/>
          </a:xfrm>
          <a:prstGeom prst="rect">
            <a:avLst/>
          </a:prstGeom>
        </p:spPr>
      </p:pic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19138" y="2762250"/>
            <a:ext cx="833438" cy="771525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96025" y="1771650"/>
            <a:ext cx="3810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651510"/>
            <a:ext cx="27489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4단계로 계획</a:t>
            </a:r>
            <a:endParaRPr lang="en-US" sz="1924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r="1" b="97396"/>
          <a:stretch/>
        </p:blipFill>
        <p:spPr>
          <a:xfrm>
            <a:off x="628650" y="1120140"/>
            <a:ext cx="491486" cy="2381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17443" y="1714500"/>
            <a:ext cx="4763" cy="222885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4786" y="1714500"/>
            <a:ext cx="4763" cy="222885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89343" y="1714500"/>
            <a:ext cx="4763" cy="222885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0100" y="3943350"/>
            <a:ext cx="7543800" cy="952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00100" y="4011930"/>
            <a:ext cx="571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570" dirty="0"/>
          </a:p>
        </p:txBody>
      </p:sp>
      <p:sp>
        <p:nvSpPr>
          <p:cNvPr id="9" name="Text 2"/>
          <p:cNvSpPr/>
          <p:nvPr/>
        </p:nvSpPr>
        <p:spPr>
          <a:xfrm>
            <a:off x="2388868" y="4011930"/>
            <a:ext cx="571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570" dirty="0"/>
          </a:p>
        </p:txBody>
      </p:sp>
      <p:sp>
        <p:nvSpPr>
          <p:cNvPr id="10" name="Text 3"/>
          <p:cNvSpPr/>
          <p:nvPr/>
        </p:nvSpPr>
        <p:spPr>
          <a:xfrm>
            <a:off x="4006211" y="4011930"/>
            <a:ext cx="571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570" dirty="0"/>
          </a:p>
        </p:txBody>
      </p:sp>
      <p:sp>
        <p:nvSpPr>
          <p:cNvPr id="11" name="Text 4"/>
          <p:cNvSpPr/>
          <p:nvPr/>
        </p:nvSpPr>
        <p:spPr>
          <a:xfrm>
            <a:off x="6132193" y="4011930"/>
            <a:ext cx="1143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570" dirty="0"/>
          </a:p>
        </p:txBody>
      </p:sp>
      <p:sp>
        <p:nvSpPr>
          <p:cNvPr id="12" name="Text 5"/>
          <p:cNvSpPr/>
          <p:nvPr/>
        </p:nvSpPr>
        <p:spPr>
          <a:xfrm>
            <a:off x="8149586" y="4011930"/>
            <a:ext cx="19431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41"/>
              </a:lnSpc>
              <a:buNone/>
            </a:pPr>
            <a:r>
              <a:rPr lang="en-US" sz="570" dirty="0">
                <a:solidFill>
                  <a:srgbClr val="666666">
                    <a:alpha val="99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14주</a:t>
            </a:r>
            <a:endParaRPr lang="en-US" sz="57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34786" y="1657350"/>
            <a:ext cx="14288" cy="25831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103243" y="4171950"/>
            <a:ext cx="85153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641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목표</a:t>
            </a:r>
            <a:endParaRPr lang="en-US" sz="641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100" y="1794510"/>
            <a:ext cx="1617343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04875" y="1857375"/>
            <a:ext cx="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· 걸음을 측정한다</a:t>
            </a:r>
            <a:endParaRPr lang="en-US" sz="713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17443" y="1794510"/>
            <a:ext cx="1617343" cy="27432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2520311" y="1857375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· 멈추면 울린다</a:t>
            </a:r>
            <a:endParaRPr lang="en-US" sz="713" dirty="0"/>
          </a:p>
        </p:txBody>
      </p:sp>
      <p:sp>
        <p:nvSpPr>
          <p:cNvPr id="19" name="Text 9"/>
          <p:cNvSpPr/>
          <p:nvPr/>
        </p:nvSpPr>
        <p:spPr>
          <a:xfrm>
            <a:off x="2519363" y="2171700"/>
            <a:ext cx="56007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걸음이 끊기면</a:t>
            </a:r>
            <a:endParaRPr lang="en-US" sz="641" dirty="0"/>
          </a:p>
        </p:txBody>
      </p:sp>
      <p:sp>
        <p:nvSpPr>
          <p:cNvPr id="20" name="Text 10"/>
          <p:cNvSpPr/>
          <p:nvPr/>
        </p:nvSpPr>
        <p:spPr>
          <a:xfrm>
            <a:off x="2519363" y="2320290"/>
            <a:ext cx="67437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간격에 맞춰</a:t>
            </a:r>
            <a:endParaRPr lang="en-US" sz="641" dirty="0"/>
          </a:p>
        </p:txBody>
      </p:sp>
      <p:sp>
        <p:nvSpPr>
          <p:cNvPr id="21" name="Text 11"/>
          <p:cNvSpPr/>
          <p:nvPr/>
        </p:nvSpPr>
        <p:spPr>
          <a:xfrm>
            <a:off x="2519363" y="2468880"/>
            <a:ext cx="58864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부저를 울린다.</a:t>
            </a:r>
            <a:endParaRPr lang="en-US" sz="641" dirty="0"/>
          </a:p>
        </p:txBody>
      </p:sp>
      <p:sp>
        <p:nvSpPr>
          <p:cNvPr id="22" name="Text 12"/>
          <p:cNvSpPr/>
          <p:nvPr/>
        </p:nvSpPr>
        <p:spPr>
          <a:xfrm>
            <a:off x="2519363" y="2795588"/>
            <a:ext cx="1485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8"/>
              </a:lnSpc>
              <a:buNone/>
            </a:pPr>
            <a:r>
              <a:rPr lang="en-US" sz="534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534" dirty="0"/>
          </a:p>
        </p:txBody>
      </p:sp>
      <p:sp>
        <p:nvSpPr>
          <p:cNvPr id="23" name="Text 13"/>
          <p:cNvSpPr/>
          <p:nvPr/>
        </p:nvSpPr>
        <p:spPr>
          <a:xfrm>
            <a:off x="2519363" y="2947988"/>
            <a:ext cx="531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3"/>
              </a:lnSpc>
              <a:buNone/>
            </a:pPr>
            <a:r>
              <a:rPr lang="en-US" sz="606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울리고</a:t>
            </a:r>
            <a:endParaRPr lang="en-US" sz="606" dirty="0"/>
          </a:p>
        </p:txBody>
      </p:sp>
      <p:sp>
        <p:nvSpPr>
          <p:cNvPr id="24" name="Text 14"/>
          <p:cNvSpPr/>
          <p:nvPr/>
        </p:nvSpPr>
        <p:spPr>
          <a:xfrm>
            <a:off x="2519363" y="3085148"/>
            <a:ext cx="5314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3"/>
              </a:lnSpc>
              <a:buNone/>
            </a:pPr>
            <a:r>
              <a:rPr lang="en-US" sz="606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걸으면 멎는다</a:t>
            </a:r>
            <a:endParaRPr lang="en-US" sz="606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34786" y="1794510"/>
            <a:ext cx="2154557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137664" y="1857375"/>
            <a:ext cx="880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· 동결만 골라낸다</a:t>
            </a:r>
            <a:endParaRPr lang="en-US" sz="713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189343" y="1794510"/>
            <a:ext cx="2154557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292211" y="1857375"/>
            <a:ext cx="10058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b="1" dirty="0">
                <a:solidFill>
                  <a:srgbClr val="0B7A3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· 부가 기능을 붙인다</a:t>
            </a:r>
            <a:endParaRPr lang="en-US" sz="713" dirty="0"/>
          </a:p>
        </p:txBody>
      </p:sp>
      <p:sp>
        <p:nvSpPr>
          <p:cNvPr id="29" name="Text 17"/>
          <p:cNvSpPr/>
          <p:nvPr/>
        </p:nvSpPr>
        <p:spPr>
          <a:xfrm>
            <a:off x="6289356" y="2171700"/>
            <a:ext cx="116586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화면, 택트스위치</a:t>
            </a:r>
            <a:endParaRPr lang="en-US" sz="641" dirty="0"/>
          </a:p>
        </p:txBody>
      </p:sp>
      <p:sp>
        <p:nvSpPr>
          <p:cNvPr id="30" name="Text 18"/>
          <p:cNvSpPr/>
          <p:nvPr/>
        </p:nvSpPr>
        <p:spPr>
          <a:xfrm>
            <a:off x="6289356" y="2320290"/>
            <a:ext cx="86296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641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요청, WiFi 전송.</a:t>
            </a:r>
            <a:endParaRPr lang="en-US" sz="641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651510"/>
            <a:ext cx="29546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한계는 다음과 같다</a:t>
            </a:r>
            <a:endParaRPr lang="en-US" sz="192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r="1" b="97396"/>
          <a:stretch/>
        </p:blipFill>
        <p:spPr>
          <a:xfrm>
            <a:off x="628650" y="1120140"/>
            <a:ext cx="491486" cy="2381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" y="1714500"/>
            <a:ext cx="3806186" cy="9715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1532" y="1857375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갑자기 울리면 놀라서 넘어질 수 있다</a:t>
            </a:r>
            <a:endParaRPr lang="en-US" sz="819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1532" y="2160270"/>
            <a:ext cx="19050" cy="35433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48686" y="2183130"/>
            <a:ext cx="17202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진동을 0.5초 먼저 주고 소리를 넣는다.</a:t>
            </a:r>
            <a:endParaRPr lang="en-US" sz="713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4" y="1714500"/>
            <a:ext cx="3806186" cy="9715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892036" y="1857375"/>
            <a:ext cx="23431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방식이 습관화를 막는다는 근거는 아직 없다</a:t>
            </a:r>
            <a:endParaRPr lang="en-US" sz="819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2036" y="2160270"/>
            <a:ext cx="19050" cy="35433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029200" y="2183130"/>
            <a:ext cx="2051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사람에게 계속 울리는 방식과 필요할 때만</a:t>
            </a:r>
            <a:endParaRPr lang="en-US" sz="713" dirty="0"/>
          </a:p>
        </p:txBody>
      </p:sp>
      <p:sp>
        <p:nvSpPr>
          <p:cNvPr id="14" name="Text 6"/>
          <p:cNvSpPr/>
          <p:nvPr/>
        </p:nvSpPr>
        <p:spPr>
          <a:xfrm>
            <a:off x="5029200" y="2354580"/>
            <a:ext cx="1628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주는 방식을 번갈아 적용해 비교한다.</a:t>
            </a:r>
            <a:endParaRPr lang="en-US" sz="713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650" y="2857500"/>
            <a:ext cx="3806186" cy="9715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11532" y="3000375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파킨슨 환자에게 직접 측정할 수 없다</a:t>
            </a:r>
            <a:endParaRPr lang="en-US" sz="819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1532" y="3303270"/>
            <a:ext cx="19050" cy="35433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48686" y="3326130"/>
            <a:ext cx="1954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 구간이 표시된 공개 데이터로 검증한다.</a:t>
            </a:r>
            <a:endParaRPr lang="en-US" sz="713" dirty="0"/>
          </a:p>
        </p:txBody>
      </p:sp>
      <p:sp>
        <p:nvSpPr>
          <p:cNvPr id="19" name="Text 9"/>
          <p:cNvSpPr/>
          <p:nvPr/>
        </p:nvSpPr>
        <p:spPr>
          <a:xfrm>
            <a:off x="948686" y="3497580"/>
            <a:ext cx="20802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차고 테스트 예정</a:t>
            </a:r>
            <a:endParaRPr lang="en-US" sz="713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9164" y="2857500"/>
            <a:ext cx="3806186" cy="9715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892036" y="3000375"/>
            <a:ext cx="13716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8"/>
              </a:lnSpc>
              <a:buNone/>
            </a:pPr>
            <a:r>
              <a:rPr lang="en-US" sz="819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동결이 아닌데 울릴 수 있다</a:t>
            </a:r>
            <a:endParaRPr lang="en-US" sz="819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2036" y="3303270"/>
            <a:ext cx="19050" cy="35433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029200" y="3326130"/>
            <a:ext cx="19831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임계값 하나로 판정하지 않고, 그 상태가 일정</a:t>
            </a:r>
            <a:endParaRPr lang="en-US" sz="713" dirty="0"/>
          </a:p>
        </p:txBody>
      </p:sp>
      <p:sp>
        <p:nvSpPr>
          <p:cNvPr id="24" name="Text 12"/>
          <p:cNvSpPr/>
          <p:nvPr/>
        </p:nvSpPr>
        <p:spPr>
          <a:xfrm>
            <a:off x="5029200" y="3497580"/>
            <a:ext cx="1531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13" dirty="0">
                <a:solidFill>
                  <a:srgbClr val="44444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이어질 때만 동결로 확정한다.</a:t>
            </a:r>
            <a:endParaRPr lang="en-US" sz="713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" y="4411980"/>
            <a:ext cx="7886700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50" y="651510"/>
            <a:ext cx="3754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924" b="1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걷다 멈춘 순간에만 울리는 자극</a:t>
            </a:r>
            <a:endParaRPr lang="en-US" sz="192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r="1" b="97396"/>
          <a:stretch/>
        </p:blipFill>
        <p:spPr>
          <a:xfrm>
            <a:off x="628650" y="1120140"/>
            <a:ext cx="491486" cy="238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650" y="2034540"/>
            <a:ext cx="258318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568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걷다가 발이 굳는 순간에만</a:t>
            </a:r>
            <a:endParaRPr lang="en-US" sz="1568" dirty="0"/>
          </a:p>
        </p:txBody>
      </p:sp>
      <p:sp>
        <p:nvSpPr>
          <p:cNvPr id="7" name="Text 3"/>
          <p:cNvSpPr/>
          <p:nvPr/>
        </p:nvSpPr>
        <p:spPr>
          <a:xfrm>
            <a:off x="628650" y="2388870"/>
            <a:ext cx="273748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568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박자를 들려주는</a:t>
            </a:r>
            <a:endParaRPr lang="en-US" sz="1568" dirty="0"/>
          </a:p>
        </p:txBody>
      </p:sp>
      <p:sp>
        <p:nvSpPr>
          <p:cNvPr id="8" name="Text 4"/>
          <p:cNvSpPr/>
          <p:nvPr/>
        </p:nvSpPr>
        <p:spPr>
          <a:xfrm>
            <a:off x="628650" y="2743200"/>
            <a:ext cx="273748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568" dirty="0">
                <a:solidFill>
                  <a:srgbClr val="11111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보행동결 자극 시스템</a:t>
            </a:r>
            <a:endParaRPr lang="en-US" sz="1568" dirty="0"/>
          </a:p>
        </p:txBody>
      </p:sp>
      <p:sp>
        <p:nvSpPr>
          <p:cNvPr id="9" name="Text 5"/>
          <p:cNvSpPr/>
          <p:nvPr/>
        </p:nvSpPr>
        <p:spPr>
          <a:xfrm>
            <a:off x="628650" y="3291840"/>
            <a:ext cx="30232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784" b="1" dirty="0">
                <a:solidFill>
                  <a:srgbClr val="00A651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 기반 보행 동결 검출 및 청각 자극 시스템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1206</Words>
  <Application>Microsoft Macintosh PowerPoint</Application>
  <PresentationFormat>화면 슬라이드 쇼(16:9)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Pretendard</vt:lpstr>
      <vt:lpstr>Arial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이종하</cp:lastModifiedBy>
  <cp:revision>2</cp:revision>
  <dcterms:created xsi:type="dcterms:W3CDTF">2026-09-21T03:00:35Z</dcterms:created>
  <dcterms:modified xsi:type="dcterms:W3CDTF">2026-10-02T08:34:07Z</dcterms:modified>
</cp:coreProperties>
</file>